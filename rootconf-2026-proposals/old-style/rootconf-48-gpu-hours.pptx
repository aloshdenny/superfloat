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9b1496-d62d-c98f-bed2-ed107ebd27c9}">
          <p14:sldIdLst>
            <p14:sldId id="256"/>
            <p14:sldId id="257"/>
          </p14:sldIdLst>
        </p14:section>
        <p14:section name="The incident" id="{6df99ab2-e910-d796-643c-2b9078827a7a}">
          <p14:sldIdLst>
            <p14:sldId id="258"/>
            <p14:sldId id="259"/>
            <p14:sldId id="260"/>
          </p14:sldIdLst>
        </p14:section>
        <p14:section name="The pattern" id="{6b47b6a5-1a5e-a179-d60c-9cc1dfd598b3}">
          <p14:sldIdLst>
            <p14:sldId id="261"/>
            <p14:sldId id="262"/>
            <p14:sldId id="263"/>
            <p14:sldId id="264"/>
          </p14:sldIdLst>
        </p14:section>
        <p14:section name="What changed" id="{4ae1fcaa-2148-8f8b-0ebd-cbb3262567e8}">
          <p14:sldIdLst>
            <p14:sldId id="265"/>
            <p14:sldId id="266"/>
            <p14:sldId id="267"/>
          </p14:sldIdLst>
        </p14:section>
        <p14:section name="Who decides" id="{980446d6-d1f8-b211-1802-f90adecd44aa}">
          <p14:sldIdLst>
            <p14:sldId id="268"/>
            <p14:sldId id="269"/>
            <p14:sldId id="270"/>
            <p14:sldId id="271"/>
            <p14:sldId id="272"/>
          </p14:sldIdLst>
        </p14:section>
        <p14:section name="Close" id="{dbdad6ab-1d7d-eebb-3df0-905ffac281cc}">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GPU hours</c:v>
                </c:pt>
              </c:strCache>
            </c:strRef>
          </c:tx>
          <c:spPr>
            <a:solidFill>
              <a:srgbClr val="C0392B"/>
            </a:solidFill>
            <a:effectLst/>
          </c:spPr>
          <c:invertIfNegative val="0"/>
          <c:dLbls>
            <c:numFmt formatCode="0" sourceLinked="0"/>
            <c:txPr>
              <a:bodyPr/>
              <a:lstStyle/>
              <a:p>
                <a:pPr>
                  <a:defRPr b="1" i="0" strike="noStrike" sz="1200" u="none">
                    <a:solidFill>
                      <a:srgbClr val="1A1A1E"/>
                    </a:solidFill>
                    <a:latin typeface="+mn-lt"/>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E8633A"/>
              </a:solidFill>
              <a:effectLst/>
            </c:spPr>
          </c:dPt>
          <c:dPt>
            <c:idx val="2"/>
            <c:invertIfNegative val="0"/>
            <c:bubble3D val="0"/>
            <c:spPr>
              <a:solidFill>
                <a:srgbClr val="3FA796"/>
              </a:solidFill>
              <a:effectLst/>
            </c:spPr>
          </c:dPt>
          <c:cat>
            <c:multiLvlStrRef>
              <c:f>Sheet1!$A$2:$A$4</c:f>
              <c:multiLvlStrCache>
                <c:ptCount val="3"/>
                <c:lvl>
                  <c:pt idx="0">
                    <c:v>Shard zero, no
volume reload</c:v>
                  </c:pt>
                  <c:pt idx="1">
                    <c:v>Zero sized volume
on an older host</c:v>
                  </c:pt>
                  <c:pt idx="2">
                    <c:v>Re-run avoided by
reading the archive</c:v>
                  </c:pt>
                </c:lvl>
              </c:multiLvlStrCache>
            </c:multiLvlStrRef>
          </c:cat>
          <c:val>
            <c:numRef>
              <c:f>Sheet1!$B$2:$B$4</c:f>
              <c:numCache>
                <c:formatCode>General</c:formatCode>
                <c:ptCount val="3"/>
                <c:pt idx="0">
                  <c:v>48</c:v>
                </c:pt>
                <c:pt idx="1">
                  <c:v>10</c:v>
                </c:pt>
                <c:pt idx="2">
                  <c:v>24</c:v>
                </c:pt>
              </c:numCache>
            </c:numRef>
          </c:val>
        </c:ser>
        <c:dLbls>
          <c:numFmt formatCode="0" sourceLinked="0"/>
          <c:txPr>
            <a:bodyPr/>
            <a:lstStyle/>
            <a:p>
              <a:pPr>
                <a:defRPr b="1" i="0" strike="noStrike" sz="1200" u="none">
                  <a:solidFill>
                    <a:srgbClr val="1A1A1E"/>
                  </a:solidFill>
                  <a:latin typeface="+mn-lt"/>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E"/>
                </a:solidFill>
                <a:latin typeface="+mn-lt"/>
              </a:defRPr>
            </a:pPr>
            <a:endParaRPr lang="en-US"/>
          </a:p>
        </c:txPr>
        <c:crossAx val="2094734552"/>
        <c:crosses val="autoZero"/>
        <c:auto val="1"/>
        <c:lblAlgn val="ctr"/>
        <c:noMultiLvlLbl val="1"/>
      </c:catAx>
      <c:valAx>
        <c:axId val="2094734552"/>
        <c:scaling>
          <c:orientation val="minMax"/>
          <c:max val="60"/>
        </c:scaling>
        <c:delete val="0"/>
        <c:axPos val="l"/>
        <c:majorGridlines>
          <c:spPr>
            <a:ln w="12700" cap="flat">
              <a:solidFill>
                <a:srgbClr val="DCDF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A1A1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bf16 (untouched)</c:v>
                </c:pt>
              </c:strCache>
            </c:strRef>
          </c:tx>
          <c:spPr>
            <a:solidFill>
              <a:srgbClr val="8A93A6"/>
            </a:solidFill>
            <a:effectLst/>
          </c:spPr>
          <c:invertIfNegative val="0"/>
          <c:dLbls>
            <c:numFmt formatCode="0.0" sourceLinked="0"/>
            <c:txPr>
              <a:bodyPr/>
              <a:lstStyle/>
              <a:p>
                <a:pPr>
                  <a:defRPr b="1" i="0" strike="noStrike" sz="900" u="none">
                    <a:solidFill>
                      <a:srgbClr val="1A1A1E"/>
                    </a:solidFill>
                    <a:latin typeface="+mn-lt"/>
                  </a:defRPr>
                </a:pPr>
              </a:p>
            </c:txPr>
            <c:showLegendKey val="0"/>
            <c:showVal val="1"/>
            <c:showCatName val="0"/>
            <c:showSerName val="0"/>
            <c:showPercent val="0"/>
            <c:showBubbleSize val="0"/>
            <c:showLeaderLines val="0"/>
          </c:dLbls>
          <c:cat>
            <c:multiLvlStrRef>
              <c:f>Sheet1!$A$2:$A$5</c:f>
              <c:multiLvlStrCache>
                <c:ptCount val="4"/>
                <c:lvl>
                  <c:pt idx="0">
                    <c:v>Qwen3 0.6B</c:v>
                  </c:pt>
                  <c:pt idx="1">
                    <c:v>Qwen3 1.7B</c:v>
                  </c:pt>
                  <c:pt idx="2">
                    <c:v>Qwen3 4B</c:v>
                  </c:pt>
                  <c:pt idx="3">
                    <c:v>Qwen3 8B</c:v>
                  </c:pt>
                </c:lvl>
              </c:multiLvlStrCache>
            </c:multiLvlStrRef>
          </c:cat>
          <c:val>
            <c:numRef>
              <c:f>Sheet1!$B$2:$B$5</c:f>
              <c:numCache>
                <c:formatCode>General</c:formatCode>
                <c:ptCount val="4"/>
                <c:pt idx="0">
                  <c:v>81.9</c:v>
                </c:pt>
                <c:pt idx="1">
                  <c:v>88.7</c:v>
                </c:pt>
                <c:pt idx="2">
                  <c:v>89.6</c:v>
                </c:pt>
                <c:pt idx="3">
                  <c:v>91.3</c:v>
                </c:pt>
              </c:numCache>
            </c:numRef>
          </c:val>
        </c:ser>
        <c:ser>
          <c:idx val="1"/>
          <c:order val="1"/>
          <c:tx>
            <c:strRef>
              <c:f>Sheet1!$C$1</c:f>
              <c:strCache>
                <c:ptCount val="1"/>
                <c:pt idx="0">
                  <c:v>8 bit fixed point</c:v>
                </c:pt>
              </c:strCache>
            </c:strRef>
          </c:tx>
          <c:spPr>
            <a:solidFill>
              <a:srgbClr val="3FA796"/>
            </a:solidFill>
            <a:effectLst/>
          </c:spPr>
          <c:invertIfNegative val="0"/>
          <c:dLbls>
            <c:numFmt formatCode="0.0" sourceLinked="0"/>
            <c:txPr>
              <a:bodyPr/>
              <a:lstStyle/>
              <a:p>
                <a:pPr>
                  <a:defRPr b="1" i="0" strike="noStrike" sz="900" u="none">
                    <a:solidFill>
                      <a:srgbClr val="1A1A1E"/>
                    </a:solidFill>
                    <a:latin typeface="+mn-lt"/>
                  </a:defRPr>
                </a:pPr>
              </a:p>
            </c:txPr>
            <c:showLegendKey val="0"/>
            <c:showVal val="1"/>
            <c:showCatName val="0"/>
            <c:showSerName val="0"/>
            <c:showPercent val="0"/>
            <c:showBubbleSize val="0"/>
            <c:showLeaderLines val="0"/>
          </c:dLbls>
          <c:cat>
            <c:multiLvlStrRef>
              <c:f>Sheet1!$A$2:$A$5</c:f>
              <c:multiLvlStrCache>
                <c:ptCount val="4"/>
                <c:lvl>
                  <c:pt idx="0">
                    <c:v>Qwen3 0.6B</c:v>
                  </c:pt>
                  <c:pt idx="1">
                    <c:v>Qwen3 1.7B</c:v>
                  </c:pt>
                  <c:pt idx="2">
                    <c:v>Qwen3 4B</c:v>
                  </c:pt>
                  <c:pt idx="3">
                    <c:v>Qwen3 8B</c:v>
                  </c:pt>
                </c:lvl>
              </c:multiLvlStrCache>
            </c:multiLvlStrRef>
          </c:cat>
          <c:val>
            <c:numRef>
              <c:f>Sheet1!$C$2:$C$5</c:f>
              <c:numCache>
                <c:formatCode>General</c:formatCode>
                <c:ptCount val="4"/>
                <c:pt idx="0">
                  <c:v>78.7</c:v>
                </c:pt>
                <c:pt idx="1">
                  <c:v>88.6</c:v>
                </c:pt>
                <c:pt idx="2">
                  <c:v>90.4</c:v>
                </c:pt>
                <c:pt idx="3">
                  <c:v>90.2</c:v>
                </c:pt>
              </c:numCache>
            </c:numRef>
          </c:val>
        </c:ser>
        <c:ser>
          <c:idx val="2"/>
          <c:order val="2"/>
          <c:tx>
            <c:strRef>
              <c:f>Sheet1!$D$1</c:f>
              <c:strCache>
                <c:ptCount val="1"/>
                <c:pt idx="0">
                  <c:v>6 bit fixed point</c:v>
                </c:pt>
              </c:strCache>
            </c:strRef>
          </c:tx>
          <c:spPr>
            <a:solidFill>
              <a:srgbClr val="C0392B"/>
            </a:solidFill>
            <a:effectLst/>
          </c:spPr>
          <c:invertIfNegative val="0"/>
          <c:dLbls>
            <c:numFmt formatCode="0.0" sourceLinked="0"/>
            <c:txPr>
              <a:bodyPr/>
              <a:lstStyle/>
              <a:p>
                <a:pPr>
                  <a:defRPr b="1" i="0" strike="noStrike" sz="900" u="none">
                    <a:solidFill>
                      <a:srgbClr val="1A1A1E"/>
                    </a:solidFill>
                    <a:latin typeface="+mn-lt"/>
                  </a:defRPr>
                </a:pPr>
              </a:p>
            </c:txPr>
            <c:showLegendKey val="0"/>
            <c:showVal val="1"/>
            <c:showCatName val="0"/>
            <c:showSerName val="0"/>
            <c:showPercent val="0"/>
            <c:showBubbleSize val="0"/>
            <c:showLeaderLines val="0"/>
          </c:dLbls>
          <c:cat>
            <c:multiLvlStrRef>
              <c:f>Sheet1!$A$2:$A$5</c:f>
              <c:multiLvlStrCache>
                <c:ptCount val="4"/>
                <c:lvl>
                  <c:pt idx="0">
                    <c:v>Qwen3 0.6B</c:v>
                  </c:pt>
                  <c:pt idx="1">
                    <c:v>Qwen3 1.7B</c:v>
                  </c:pt>
                  <c:pt idx="2">
                    <c:v>Qwen3 4B</c:v>
                  </c:pt>
                  <c:pt idx="3">
                    <c:v>Qwen3 8B</c:v>
                  </c:pt>
                </c:lvl>
              </c:multiLvlStrCache>
            </c:multiLvlStrRef>
          </c:cat>
          <c:val>
            <c:numRef>
              <c:f>Sheet1!$D$2:$D$5</c:f>
              <c:numCache>
                <c:formatCode>General</c:formatCode>
                <c:ptCount val="4"/>
                <c:pt idx="0">
                  <c:v>27.3</c:v>
                </c:pt>
                <c:pt idx="1">
                  <c:v>78.9</c:v>
                </c:pt>
                <c:pt idx="2">
                  <c:v>62.9</c:v>
                </c:pt>
                <c:pt idx="3">
                  <c:v>88</c:v>
                </c:pt>
              </c:numCache>
            </c:numRef>
          </c:val>
        </c:ser>
        <c:dLbls>
          <c:numFmt formatCode="0.0" sourceLinked="0"/>
          <c:txPr>
            <a:bodyPr/>
            <a:lstStyle/>
            <a:p>
              <a:pPr>
                <a:defRPr b="1" i="0" strike="noStrike" sz="900" u="none">
                  <a:solidFill>
                    <a:srgbClr val="1A1A1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1E"/>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DCDF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A1A1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A1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the number in the title is real and it is small enough to be embarrassing rather than abstract. Say up front that none of the expensive failures were modelling bugs. The talk has two halves: what broke, and who was supposed to be responsible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I am not claiming production scale. I am claiming that batch work on rented hardware has the same failure surface, and that the research setting makes each failure unusually easy to see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single most expensive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slowly. The point of hour 6 is that the diagnostic signal was present and I dismissed it. Do not skip past that, it is the most relatable part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is the lesson. Everyone in the room has written code that assumed a shared mount behaves like a local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from the single incident to the class of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chart on screen while making the point that the third bar is categorically different: it is a failure of ownership rather than of code, and it is the bridge into the second half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briskly. One sentence of colour each. The payload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talk. Land it clearly, then move into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practices section. Keep it concrete and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this is the slide to compress. The audience can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Tradeoffs slide, which the reviewers specifically asked for. Be honest that the third one is a compromise I am not fully happy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The folded in material starts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explicitly back to the archive failure. Same shape: four plausible owners, no actual owner, so the thing does not get done or gets done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Berkeley Function Calling Leaderboard, scored by AST match. The reason to show this is not the result, it is that this is the shape of evidence somebody should be required to produce before a precision change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the concrete answer to what evidence a reviewer should demand. Neither is visible in the headline number a vendor or a team would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real time here. This is the folded in Birds of Feather material and the room is the expert, not me. If discussion runs long, cut the practices slide earlier rather than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ownership line, then open questions. Mention that the repository has the raw results and that both figure scripts run on a laptop with no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1828800"/>
            <a:ext cx="1097280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 </a:t>
            </a:r>
            <a:endParaRPr lang="en-US" sz="4400" dirty="0"/>
          </a:p>
        </p:txBody>
      </p:sp>
      <p:sp>
        <p:nvSpPr>
          <p:cNvPr id="3" name="Text 0"/>
          <p:cNvSpPr/>
          <p:nvPr>
            <p:ph idx="101" type="body" hasCustomPrompt="1"/>
          </p:nvPr>
        </p:nvSpPr>
        <p:spPr>
          <a:xfrm>
            <a:off x="594360" y="3794760"/>
            <a:ext cx="9692640" cy="1737360"/>
          </a:xfrm>
          <a:prstGeom prst="rect">
            <a:avLst/>
          </a:prstGeom>
          <a:noFill/>
          <a:ln/>
        </p:spPr>
        <p:txBody>
          <a:bodyPr wrap="square" rtlCol="0"/>
          <a:lstStyle>
            <a:lvl1pPr indent="0" marL="0">
              <a:buNone/>
              <a:defRPr lang="en-US" sz="1500" dirty="0">
                <a:solidFill>
                  <a:srgbClr val="8A93A6"/>
                </a:solidFill>
              </a:defRPr>
            </a:lvl1pPr>
          </a:lstStyle>
          <a:p>
            <a:pPr indent="0" marL="0">
              <a:buNone/>
            </a:pPr>
            <a:r>
              <a:rPr lang="en-US" sz="1500" dirty="0">
                <a:solidFill>
                  <a:srgbClr val="8A93A6"/>
                </a:solidFill>
              </a:rPr>
              <a:t> </a:t>
            </a:r>
            <a:endParaRPr lang="en-US" sz="1500" dirty="0"/>
          </a:p>
        </p:txBody>
      </p:sp>
      <p:sp>
        <p:nvSpPr>
          <p:cNvPr id="4" name="Text 0"/>
          <p:cNvSpPr txBox="1"/>
          <p:nvPr/>
        </p:nvSpPr>
        <p:spPr>
          <a:xfrm>
            <a:off x="594360" y="6144768"/>
            <a:ext cx="7315200" cy="320040"/>
          </a:xfrm>
          <a:prstGeom prst="rect">
            <a:avLst/>
          </a:prstGeom>
          <a:noFill/>
          <a:ln/>
        </p:spPr>
        <p:txBody>
          <a:bodyPr wrap="square" lIns="0" tIns="0" rIns="0" bIns="0" rtlCol="0" anchor="ctr"/>
          <a:lstStyle/>
          <a:p>
            <a:pPr indent="0" marL="0">
              <a:buNone/>
            </a:pPr>
            <a:r>
              <a:rPr lang="en-US" sz="1100" dirty="0">
                <a:solidFill>
                  <a:srgbClr val="8A93A6"/>
                </a:solidFill>
              </a:rPr>
              <a:t>Rootconf 2026  ·  Alosh Denny</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94360" y="2286000"/>
            <a:ext cx="2743200" cy="914400"/>
          </a:xfrm>
          <a:prstGeom prst="rect">
            <a:avLst/>
          </a:prstGeom>
          <a:noFill/>
          <a:ln/>
        </p:spPr>
        <p:txBody>
          <a:bodyPr wrap="square" rtlCol="0"/>
          <a:lstStyle>
            <a:lvl1pPr algn="l" indent="0" marL="0">
              <a:buNone/>
              <a:defRPr lang="en-US" sz="6400" b="1" dirty="0">
                <a:solidFill>
                  <a:srgbClr val="E8633A"/>
                </a:solidFill>
              </a:defRPr>
            </a:lvl1pPr>
          </a:lstStyle>
          <a:p>
            <a:pPr algn="l" indent="0" marL="0">
              <a:buNone/>
            </a:pPr>
            <a:r>
              <a:rPr lang="en-US" sz="6400" b="1" dirty="0">
                <a:solidFill>
                  <a:srgbClr val="E8633A"/>
                </a:solidFill>
              </a:rPr>
              <a:t> </a:t>
            </a:r>
            <a:endParaRPr lang="en-US" sz="6400" dirty="0"/>
          </a:p>
        </p:txBody>
      </p:sp>
      <p:sp>
        <p:nvSpPr>
          <p:cNvPr id="3" name="Text 0"/>
          <p:cNvSpPr/>
          <p:nvPr>
            <p:ph idx="101" type="title" hasCustomPrompt="1"/>
          </p:nvPr>
        </p:nvSpPr>
        <p:spPr>
          <a:xfrm>
            <a:off x="594360" y="3291840"/>
            <a:ext cx="10972800" cy="10972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txBox="1"/>
          <p:nvPr/>
        </p:nvSpPr>
        <p:spPr>
          <a:xfrm>
            <a:off x="594360" y="6327648"/>
            <a:ext cx="5486400" cy="274320"/>
          </a:xfrm>
          <a:prstGeom prst="rect">
            <a:avLst/>
          </a:prstGeom>
          <a:noFill/>
          <a:ln/>
        </p:spPr>
        <p:txBody>
          <a:bodyPr wrap="square" lIns="0" tIns="0" rIns="0" bIns="0" rtlCol="0" anchor="ctr"/>
          <a:lstStyle/>
          <a:p>
            <a:pPr indent="0" marL="0">
              <a:buNone/>
            </a:pPr>
            <a:r>
              <a:rPr lang="en-US" sz="1000" dirty="0">
                <a:solidFill>
                  <a:srgbClr val="6B7280"/>
                </a:solidFill>
              </a:rPr>
              <a:t>github.com/aloshdenny/superfloat</a:t>
            </a:r>
            <a:endParaRPr lang="en-US" sz="10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R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 </a:t>
            </a:r>
            <a:endParaRPr lang="en-US" sz="3200" dirty="0"/>
          </a:p>
        </p:txBody>
      </p:sp>
      <p:sp>
        <p:nvSpPr>
          <p:cNvPr id="3" name="Text 0"/>
          <p:cNvSpPr/>
          <p:nvPr>
            <p:ph idx="101" type="chart" hasCustomPrompt="1"/>
          </p:nvPr>
        </p:nvSpPr>
        <p:spPr>
          <a:xfrm>
            <a:off x="594360" y="1508760"/>
            <a:ext cx="7406640" cy="4343400"/>
          </a:xfrm>
          <a:prstGeom prst="rect">
            <a:avLst/>
          </a:prstGeom>
          <a:noFill/>
          <a:ln/>
        </p:spPr>
        <p:txBody>
          <a:bodyPr wrap="square" rtlCol="0"/>
          <a:lstStyle>
            <a:lvl1pPr indent="0" marL="0">
              <a:buNone/>
              <a:defRPr lang="en-US" dirty="0">
                <a:solidFill>
                  <a:schemeClr val="tx1"/>
                </a:solidFill>
              </a:defRPr>
            </a:lvl1pPr>
          </a:lstStyle>
          <a:p>
            <a:pPr indent="0" marL="0">
              <a:buNone/>
            </a:pPr>
            <a:r>
              <a:rPr lang="en-US" dirty="0">
                <a:solidFill>
                  <a:schemeClr val="tx1"/>
                </a:solidFill>
              </a:rPr>
              <a:t> </a:t>
            </a:r>
            <a:endParaRPr lang="en-US" dirty="0"/>
          </a:p>
        </p:txBody>
      </p:sp>
      <p:sp>
        <p:nvSpPr>
          <p:cNvPr id="4" name="Text 0"/>
          <p:cNvSpPr txBox="1"/>
          <p:nvPr/>
        </p:nvSpPr>
        <p:spPr>
          <a:xfrm>
            <a:off x="594360" y="6327648"/>
            <a:ext cx="5486400" cy="274320"/>
          </a:xfrm>
          <a:prstGeom prst="rect">
            <a:avLst/>
          </a:prstGeom>
          <a:noFill/>
          <a:ln/>
        </p:spPr>
        <p:txBody>
          <a:bodyPr wrap="square" lIns="0" tIns="0" rIns="0" bIns="0" rtlCol="0" anchor="ctr"/>
          <a:lstStyle/>
          <a:p>
            <a:pPr indent="0" marL="0">
              <a:buNone/>
            </a:pPr>
            <a:r>
              <a:rPr lang="en-US" sz="1000" dirty="0">
                <a:solidFill>
                  <a:srgbClr val="6B7280"/>
                </a:solidFill>
              </a:rPr>
              <a:t>github.com/aloshdenny/superfloat</a:t>
            </a:r>
            <a:endParaRPr lang="en-US" sz="10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566928"/>
            <a:ext cx="10972800"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r>
              <a:rPr lang="en-US" sz="3200" b="1" dirty="0">
                <a:solidFill>
                  <a:schemeClr val="bg1"/>
                </a:solidFill>
              </a:rPr>
              <a:t> </a:t>
            </a: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94360" y="1828800"/>
            <a:ext cx="10972800" cy="1828800"/>
          </a:xfrm>
          <a:prstGeom prst="rect">
            <a:avLst/>
          </a:prstGeom>
          <a:noFill/>
          <a:ln/>
        </p:spPr>
        <p:txBody>
          <a:bodyPr wrap="square" rtlCol="0" anchor="b"/>
          <a:lstStyle/>
          <a:p>
            <a:pPr algn="l" indent="0" marL="0">
              <a:buNone/>
            </a:pPr>
            <a:r>
              <a:rPr lang="en-US" sz="4400" b="1" dirty="0">
                <a:solidFill>
                  <a:schemeClr val="bg1"/>
                </a:solidFill>
              </a:rPr>
              <a:t>We burned 48 GPU hours training on 96 million tokens</a:t>
            </a:r>
            <a:endParaRPr lang="en-US" sz="4400" dirty="0"/>
          </a:p>
        </p:txBody>
      </p:sp>
      <p:sp>
        <p:nvSpPr>
          <p:cNvPr id="3" name="Text 0"/>
          <p:cNvSpPr/>
          <p:nvPr>
            <p:ph idx="101" type="body" hasCustomPrompt="1"/>
          </p:nvPr>
        </p:nvSpPr>
        <p:spPr>
          <a:xfrm>
            <a:off x="594360" y="3794760"/>
            <a:ext cx="9692640" cy="1737360"/>
          </a:xfrm>
          <a:prstGeom prst="rect">
            <a:avLst/>
          </a:prstGeom>
          <a:noFill/>
          <a:ln/>
        </p:spPr>
        <p:txBody>
          <a:bodyPr wrap="square" rtlCol="0" anchor="t"/>
          <a:lstStyle/>
          <a:p>
            <a:pPr indent="0" marL="0">
              <a:buNone/>
            </a:pPr>
            <a:r>
              <a:rPr lang="en-US" sz="1500" dirty="0">
                <a:solidFill>
                  <a:srgbClr val="8A93A6"/>
                </a:solidFill>
              </a:rPr>
              <a:t>And the loss curve told us for hours. What a year of running a thousand-run experiment grid on other people's GPUs teaches you about failure, and about the question underneath every one of them: who owns the decision.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Not a production service. It behaves like one</a:t>
            </a:r>
            <a:endParaRPr lang="en-US" sz="3200" dirty="0"/>
          </a:p>
        </p:txBody>
      </p:sp>
      <p:sp>
        <p:nvSpPr>
          <p:cNvPr id="3" name="stat-1"/>
          <p:cNvSpPr txBox="1"/>
          <p:nvPr/>
        </p:nvSpPr>
        <p:spPr>
          <a:xfrm>
            <a:off x="594360" y="1920240"/>
            <a:ext cx="3291840" cy="777240"/>
          </a:xfrm>
          <a:prstGeom prst="rect">
            <a:avLst/>
          </a:prstGeom>
          <a:noFill/>
          <a:ln/>
        </p:spPr>
        <p:txBody>
          <a:bodyPr wrap="square" lIns="0" tIns="0" rIns="0" bIns="0" rtlCol="0" anchor="ctr"/>
          <a:lstStyle/>
          <a:p>
            <a:pPr algn="l" indent="0" marL="0">
              <a:buNone/>
            </a:pPr>
            <a:r>
              <a:rPr lang="en-US" sz="5000" b="1" dirty="0">
                <a:solidFill>
                  <a:schemeClr val="accent1"/>
                </a:solidFill>
              </a:rPr>
              <a:t>878</a:t>
            </a:r>
            <a:endParaRPr lang="en-US" sz="5000" dirty="0"/>
          </a:p>
        </p:txBody>
      </p:sp>
      <p:sp>
        <p:nvSpPr>
          <p:cNvPr id="4" name="statlbl-2"/>
          <p:cNvSpPr txBox="1"/>
          <p:nvPr/>
        </p:nvSpPr>
        <p:spPr>
          <a:xfrm>
            <a:off x="594360" y="2697480"/>
            <a:ext cx="3291840" cy="731520"/>
          </a:xfrm>
          <a:prstGeom prst="rect">
            <a:avLst/>
          </a:prstGeom>
          <a:noFill/>
          <a:ln/>
        </p:spPr>
        <p:txBody>
          <a:bodyPr wrap="square" lIns="0" tIns="0" rIns="0" bIns="0" rtlCol="0" anchor="t"/>
          <a:lstStyle/>
          <a:p>
            <a:pPr algn="l" indent="0" marL="0">
              <a:buNone/>
            </a:pPr>
            <a:r>
              <a:rPr lang="en-US" sz="1300" dirty="0">
                <a:solidFill>
                  <a:schemeClr val="tx1"/>
                </a:solidFill>
              </a:rPr>
              <a:t>archived training runs behind one research project</a:t>
            </a:r>
            <a:endParaRPr lang="en-US" sz="1300" dirty="0"/>
          </a:p>
        </p:txBody>
      </p:sp>
      <p:sp>
        <p:nvSpPr>
          <p:cNvPr id="5" name="stat-3"/>
          <p:cNvSpPr txBox="1"/>
          <p:nvPr/>
        </p:nvSpPr>
        <p:spPr>
          <a:xfrm>
            <a:off x="4343400" y="1920240"/>
            <a:ext cx="3291840" cy="777240"/>
          </a:xfrm>
          <a:prstGeom prst="rect">
            <a:avLst/>
          </a:prstGeom>
          <a:noFill/>
          <a:ln/>
        </p:spPr>
        <p:txBody>
          <a:bodyPr wrap="square" lIns="0" tIns="0" rIns="0" bIns="0" rtlCol="0" anchor="ctr"/>
          <a:lstStyle/>
          <a:p>
            <a:pPr algn="l" indent="0" marL="0">
              <a:buNone/>
            </a:pPr>
            <a:r>
              <a:rPr lang="en-US" sz="5000" b="1" dirty="0">
                <a:solidFill>
                  <a:schemeClr val="accent6"/>
                </a:solidFill>
              </a:rPr>
              <a:t>4</a:t>
            </a:r>
            <a:endParaRPr lang="en-US" sz="5000" dirty="0"/>
          </a:p>
        </p:txBody>
      </p:sp>
      <p:sp>
        <p:nvSpPr>
          <p:cNvPr id="6" name="statlbl-4"/>
          <p:cNvSpPr txBox="1"/>
          <p:nvPr/>
        </p:nvSpPr>
        <p:spPr>
          <a:xfrm>
            <a:off x="4343400" y="2697480"/>
            <a:ext cx="3291840" cy="731520"/>
          </a:xfrm>
          <a:prstGeom prst="rect">
            <a:avLst/>
          </a:prstGeom>
          <a:noFill/>
          <a:ln/>
        </p:spPr>
        <p:txBody>
          <a:bodyPr wrap="square" lIns="0" tIns="0" rIns="0" bIns="0" rtlCol="0" anchor="t"/>
          <a:lstStyle/>
          <a:p>
            <a:pPr algn="l" indent="0" marL="0">
              <a:buNone/>
            </a:pPr>
            <a:r>
              <a:rPr lang="en-US" sz="1300" dirty="0">
                <a:solidFill>
                  <a:schemeClr val="tx1"/>
                </a:solidFill>
              </a:rPr>
              <a:t>compute platforms in a year: a desk GPU, a lab machine, RunPod, Modal</a:t>
            </a:r>
            <a:endParaRPr lang="en-US" sz="1300" dirty="0"/>
          </a:p>
        </p:txBody>
      </p:sp>
      <p:sp>
        <p:nvSpPr>
          <p:cNvPr id="7" name="stat-5"/>
          <p:cNvSpPr txBox="1"/>
          <p:nvPr/>
        </p:nvSpPr>
        <p:spPr>
          <a:xfrm>
            <a:off x="8092440" y="1920240"/>
            <a:ext cx="3291840" cy="777240"/>
          </a:xfrm>
          <a:prstGeom prst="rect">
            <a:avLst/>
          </a:prstGeom>
          <a:noFill/>
          <a:ln/>
        </p:spPr>
        <p:txBody>
          <a:bodyPr wrap="square" lIns="0" tIns="0" rIns="0" bIns="0" rtlCol="0" anchor="ctr"/>
          <a:lstStyle/>
          <a:p>
            <a:pPr algn="l" indent="0" marL="0">
              <a:buNone/>
            </a:pPr>
            <a:r>
              <a:rPr lang="en-US" sz="5000" b="1" dirty="0">
                <a:solidFill>
                  <a:schemeClr val="accent2"/>
                </a:solidFill>
              </a:rPr>
              <a:t>0</a:t>
            </a:r>
            <a:endParaRPr lang="en-US" sz="5000" dirty="0"/>
          </a:p>
        </p:txBody>
      </p:sp>
      <p:sp>
        <p:nvSpPr>
          <p:cNvPr id="8" name="statlbl-6"/>
          <p:cNvSpPr txBox="1"/>
          <p:nvPr/>
        </p:nvSpPr>
        <p:spPr>
          <a:xfrm>
            <a:off x="8092440" y="2697480"/>
            <a:ext cx="3291840" cy="731520"/>
          </a:xfrm>
          <a:prstGeom prst="rect">
            <a:avLst/>
          </a:prstGeom>
          <a:noFill/>
          <a:ln/>
        </p:spPr>
        <p:txBody>
          <a:bodyPr wrap="square" lIns="0" tIns="0" rIns="0" bIns="0" rtlCol="0" anchor="t"/>
          <a:lstStyle/>
          <a:p>
            <a:pPr algn="l" indent="0" marL="0">
              <a:buNone/>
            </a:pPr>
            <a:r>
              <a:rPr lang="en-US" sz="1300" dirty="0">
                <a:solidFill>
                  <a:schemeClr val="tx1"/>
                </a:solidFill>
              </a:rPr>
              <a:t>of the expensive failures were modelling bugs</a:t>
            </a:r>
            <a:endParaRPr lang="en-US" sz="1300" dirty="0"/>
          </a:p>
        </p:txBody>
      </p:sp>
      <p:sp>
        <p:nvSpPr>
          <p:cNvPr id="9" name="card-7"/>
          <p:cNvSpPr/>
          <p:nvPr/>
        </p:nvSpPr>
        <p:spPr>
          <a:xfrm>
            <a:off x="594360" y="3931920"/>
            <a:ext cx="1097280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tchead-8"/>
          <p:cNvSpPr txBox="1"/>
          <p:nvPr/>
        </p:nvSpPr>
        <p:spPr>
          <a:xfrm>
            <a:off x="905256" y="4151376"/>
            <a:ext cx="10351008" cy="512064"/>
          </a:xfrm>
          <a:prstGeom prst="rect">
            <a:avLst/>
          </a:prstGeom>
          <a:noFill/>
          <a:ln/>
        </p:spPr>
        <p:txBody>
          <a:bodyPr wrap="square" lIns="0" tIns="0" rIns="0" bIns="0" rtlCol="0" anchor="t"/>
          <a:lstStyle/>
          <a:p>
            <a:pPr indent="0" marL="0">
              <a:buNone/>
            </a:pPr>
            <a:r>
              <a:rPr lang="en-US" sz="1700" b="1" dirty="0">
                <a:solidFill>
                  <a:schemeClr val="tx1"/>
                </a:solidFill>
              </a:rPr>
              <a:t>Why the operational character is the same</a:t>
            </a:r>
            <a:endParaRPr lang="en-US" sz="1700" dirty="0"/>
          </a:p>
        </p:txBody>
      </p:sp>
      <p:sp>
        <p:nvSpPr>
          <p:cNvPr id="11" name="tcbody-9"/>
          <p:cNvSpPr txBox="1"/>
          <p:nvPr/>
        </p:nvSpPr>
        <p:spPr>
          <a:xfrm>
            <a:off x="905256" y="4718304"/>
            <a:ext cx="10351008" cy="530352"/>
          </a:xfrm>
          <a:prstGeom prst="rect">
            <a:avLst/>
          </a:prstGeom>
          <a:noFill/>
          <a:ln/>
        </p:spPr>
        <p:txBody>
          <a:bodyPr wrap="square" lIns="0" tIns="0" rIns="0" bIns="0" rtlCol="0" anchor="t"/>
          <a:lstStyle/>
          <a:p>
            <a:pPr indent="0" marL="0">
              <a:buNone/>
            </a:pPr>
            <a:r>
              <a:rPr lang="en-US" sz="1350" dirty="0">
                <a:solidFill>
                  <a:schemeClr val="tx1"/>
                </a:solidFill>
              </a:rPr>
              <a:t>A job that dies at hour twenty is expensive. A job that succeeds while computing the wrong thing is worse, because nothing pages you. Small enough that every failure is legible, large enough that each one costs real money.</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94360" y="2286000"/>
            <a:ext cx="2743200" cy="914400"/>
          </a:xfrm>
          <a:prstGeom prst="rect">
            <a:avLst/>
          </a:prstGeom>
          <a:noFill/>
          <a:ln/>
        </p:spPr>
        <p:txBody>
          <a:bodyPr wrap="square" rtlCol="0" anchor="b"/>
          <a:lstStyle/>
          <a:p>
            <a:pPr algn="l" indent="0" marL="0">
              <a:buNone/>
            </a:pPr>
            <a:r>
              <a:rPr lang="en-US" sz="6400" b="1" dirty="0">
                <a:solidFill>
                  <a:srgbClr val="E8633A"/>
                </a:solidFill>
              </a:rPr>
              <a:t>01</a:t>
            </a:r>
            <a:endParaRPr lang="en-US" sz="6400" dirty="0"/>
          </a:p>
        </p:txBody>
      </p:sp>
      <p:sp>
        <p:nvSpPr>
          <p:cNvPr id="3" name="Text 0"/>
          <p:cNvSpPr/>
          <p:nvPr>
            <p:ph idx="101" type="title" hasCustomPrompt="1"/>
          </p:nvPr>
        </p:nvSpPr>
        <p:spPr>
          <a:xfrm>
            <a:off x="594360" y="3291840"/>
            <a:ext cx="10972800" cy="1097280"/>
          </a:xfrm>
          <a:prstGeom prst="rect">
            <a:avLst/>
          </a:prstGeom>
          <a:noFill/>
          <a:ln/>
        </p:spPr>
        <p:txBody>
          <a:bodyPr wrap="square" rtlCol="0" anchor="t"/>
          <a:lstStyle/>
          <a:p>
            <a:pPr algn="l" indent="0" marL="0">
              <a:buNone/>
            </a:pPr>
            <a:r>
              <a:rPr lang="en-US" sz="3800" b="1" dirty="0">
                <a:solidFill>
                  <a:schemeClr val="bg1"/>
                </a:solidFill>
              </a:rPr>
              <a:t>The run that looked fine</a:t>
            </a:r>
            <a:endParaRPr lang="en-US" sz="3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Twenty four hours, in four beats</a:t>
            </a:r>
            <a:endParaRPr lang="en-US" sz="3200" dirty="0"/>
          </a:p>
        </p:txBody>
      </p:sp>
      <p:sp>
        <p:nvSpPr>
          <p:cNvPr id="3" name="card-10"/>
          <p:cNvSpPr/>
          <p:nvPr/>
        </p:nvSpPr>
        <p:spPr>
          <a:xfrm>
            <a:off x="594360" y="1737360"/>
            <a:ext cx="77724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beatt-11"/>
          <p:cNvSpPr txBox="1"/>
          <p:nvPr/>
        </p:nvSpPr>
        <p:spPr>
          <a:xfrm>
            <a:off x="868680" y="1901952"/>
            <a:ext cx="1005840" cy="548640"/>
          </a:xfrm>
          <a:prstGeom prst="rect">
            <a:avLst/>
          </a:prstGeom>
          <a:noFill/>
          <a:ln/>
        </p:spPr>
        <p:txBody>
          <a:bodyPr wrap="square" lIns="0" tIns="0" rIns="0" bIns="0" rtlCol="0" anchor="ctr"/>
          <a:lstStyle/>
          <a:p>
            <a:pPr indent="0" marL="0">
              <a:buNone/>
            </a:pPr>
            <a:r>
              <a:rPr lang="en-US" sz="1500" b="1" dirty="0">
                <a:solidFill>
                  <a:srgbClr val="6B7280"/>
                </a:solidFill>
              </a:rPr>
              <a:t>Hour 0</a:t>
            </a:r>
            <a:endParaRPr lang="en-US" sz="1500" dirty="0"/>
          </a:p>
        </p:txBody>
      </p:sp>
      <p:sp>
        <p:nvSpPr>
          <p:cNvPr id="5" name="beatb-12"/>
          <p:cNvSpPr txBox="1"/>
          <p:nvPr/>
        </p:nvSpPr>
        <p:spPr>
          <a:xfrm>
            <a:off x="1965960" y="1901952"/>
            <a:ext cx="6217920" cy="548640"/>
          </a:xfrm>
          <a:prstGeom prst="rect">
            <a:avLst/>
          </a:prstGeom>
          <a:noFill/>
          <a:ln/>
        </p:spPr>
        <p:txBody>
          <a:bodyPr wrap="square" lIns="0" tIns="0" rIns="0" bIns="0" rtlCol="0" anchor="ctr"/>
          <a:lstStyle/>
          <a:p>
            <a:pPr indent="0" marL="0">
              <a:buNone/>
            </a:pPr>
            <a:r>
              <a:rPr lang="en-US" sz="1350" dirty="0">
                <a:solidFill>
                  <a:schemeClr val="tx1"/>
                </a:solidFill>
              </a:rPr>
              <a:t>The data preparation job starts writing shards to a shared network volume.</a:t>
            </a:r>
            <a:endParaRPr lang="en-US" sz="1350" dirty="0"/>
          </a:p>
        </p:txBody>
      </p:sp>
      <p:sp>
        <p:nvSpPr>
          <p:cNvPr id="6" name="card-13"/>
          <p:cNvSpPr/>
          <p:nvPr/>
        </p:nvSpPr>
        <p:spPr>
          <a:xfrm>
            <a:off x="594360" y="2761488"/>
            <a:ext cx="77724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beatt-14"/>
          <p:cNvSpPr txBox="1"/>
          <p:nvPr/>
        </p:nvSpPr>
        <p:spPr>
          <a:xfrm>
            <a:off x="868680" y="2926080"/>
            <a:ext cx="1005840" cy="548640"/>
          </a:xfrm>
          <a:prstGeom prst="rect">
            <a:avLst/>
          </a:prstGeom>
          <a:noFill/>
          <a:ln/>
        </p:spPr>
        <p:txBody>
          <a:bodyPr wrap="square" lIns="0" tIns="0" rIns="0" bIns="0" rtlCol="0" anchor="ctr"/>
          <a:lstStyle/>
          <a:p>
            <a:pPr indent="0" marL="0">
              <a:buNone/>
            </a:pPr>
            <a:r>
              <a:rPr lang="en-US" sz="1500" b="1" dirty="0">
                <a:solidFill>
                  <a:srgbClr val="6B7280"/>
                </a:solidFill>
              </a:rPr>
              <a:t>Hour 0</a:t>
            </a:r>
            <a:endParaRPr lang="en-US" sz="1500" dirty="0"/>
          </a:p>
        </p:txBody>
      </p:sp>
      <p:sp>
        <p:nvSpPr>
          <p:cNvPr id="8" name="beatb-15"/>
          <p:cNvSpPr txBox="1"/>
          <p:nvPr/>
        </p:nvSpPr>
        <p:spPr>
          <a:xfrm>
            <a:off x="1965960" y="2926080"/>
            <a:ext cx="6217920" cy="548640"/>
          </a:xfrm>
          <a:prstGeom prst="rect">
            <a:avLst/>
          </a:prstGeom>
          <a:noFill/>
          <a:ln/>
        </p:spPr>
        <p:txBody>
          <a:bodyPr wrap="square" lIns="0" tIns="0" rIns="0" bIns="0" rtlCol="0" anchor="ctr"/>
          <a:lstStyle/>
          <a:p>
            <a:pPr indent="0" marL="0">
              <a:buNone/>
            </a:pPr>
            <a:r>
              <a:rPr lang="en-US" sz="1350" dirty="0">
                <a:solidFill>
                  <a:schemeClr val="tx1"/>
                </a:solidFill>
              </a:rPr>
              <a:t>Two training containers launch against the same volume. Neither waits.</a:t>
            </a:r>
            <a:endParaRPr lang="en-US" sz="1350" dirty="0"/>
          </a:p>
        </p:txBody>
      </p:sp>
      <p:sp>
        <p:nvSpPr>
          <p:cNvPr id="9" name="card-16"/>
          <p:cNvSpPr/>
          <p:nvPr/>
        </p:nvSpPr>
        <p:spPr>
          <a:xfrm>
            <a:off x="594360" y="3785616"/>
            <a:ext cx="77724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beatt-17"/>
          <p:cNvSpPr txBox="1"/>
          <p:nvPr/>
        </p:nvSpPr>
        <p:spPr>
          <a:xfrm>
            <a:off x="868680" y="3950208"/>
            <a:ext cx="1005840" cy="548640"/>
          </a:xfrm>
          <a:prstGeom prst="rect">
            <a:avLst/>
          </a:prstGeom>
          <a:noFill/>
          <a:ln/>
        </p:spPr>
        <p:txBody>
          <a:bodyPr wrap="square" lIns="0" tIns="0" rIns="0" bIns="0" rtlCol="0" anchor="ctr"/>
          <a:lstStyle/>
          <a:p>
            <a:pPr indent="0" marL="0">
              <a:buNone/>
            </a:pPr>
            <a:r>
              <a:rPr lang="en-US" sz="1500" b="1" dirty="0">
                <a:solidFill>
                  <a:schemeClr val="accent3"/>
                </a:solidFill>
              </a:rPr>
              <a:t>Hour 6</a:t>
            </a:r>
            <a:endParaRPr lang="en-US" sz="1500" dirty="0"/>
          </a:p>
        </p:txBody>
      </p:sp>
      <p:sp>
        <p:nvSpPr>
          <p:cNvPr id="11" name="beatb-18"/>
          <p:cNvSpPr txBox="1"/>
          <p:nvPr/>
        </p:nvSpPr>
        <p:spPr>
          <a:xfrm>
            <a:off x="1965960" y="3950208"/>
            <a:ext cx="6217920" cy="548640"/>
          </a:xfrm>
          <a:prstGeom prst="rect">
            <a:avLst/>
          </a:prstGeom>
          <a:noFill/>
          <a:ln/>
        </p:spPr>
        <p:txBody>
          <a:bodyPr wrap="square" lIns="0" tIns="0" rIns="0" bIns="0" rtlCol="0" anchor="ctr"/>
          <a:lstStyle/>
          <a:p>
            <a:pPr indent="0" marL="0">
              <a:buNone/>
            </a:pPr>
            <a:r>
              <a:rPr lang="en-US" sz="1350" dirty="0">
                <a:solidFill>
                  <a:schemeClr val="tx1"/>
                </a:solidFill>
              </a:rPr>
              <a:t>Validation loss starts climbing. I read it as evaluation noise and leave it.</a:t>
            </a:r>
            <a:endParaRPr lang="en-US" sz="1350" dirty="0"/>
          </a:p>
        </p:txBody>
      </p:sp>
      <p:sp>
        <p:nvSpPr>
          <p:cNvPr id="12" name="card-19"/>
          <p:cNvSpPr/>
          <p:nvPr/>
        </p:nvSpPr>
        <p:spPr>
          <a:xfrm>
            <a:off x="594360" y="4809744"/>
            <a:ext cx="77724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3" name="beatt-20"/>
          <p:cNvSpPr txBox="1"/>
          <p:nvPr/>
        </p:nvSpPr>
        <p:spPr>
          <a:xfrm>
            <a:off x="868680" y="4974336"/>
            <a:ext cx="1005840" cy="548640"/>
          </a:xfrm>
          <a:prstGeom prst="rect">
            <a:avLst/>
          </a:prstGeom>
          <a:noFill/>
          <a:ln/>
        </p:spPr>
        <p:txBody>
          <a:bodyPr wrap="square" lIns="0" tIns="0" rIns="0" bIns="0" rtlCol="0" anchor="ctr"/>
          <a:lstStyle/>
          <a:p>
            <a:pPr indent="0" marL="0">
              <a:buNone/>
            </a:pPr>
            <a:r>
              <a:rPr lang="en-US" sz="1500" b="1" dirty="0">
                <a:solidFill>
                  <a:schemeClr val="accent5"/>
                </a:solidFill>
              </a:rPr>
              <a:t>Hour 24</a:t>
            </a:r>
            <a:endParaRPr lang="en-US" sz="1500" dirty="0"/>
          </a:p>
        </p:txBody>
      </p:sp>
      <p:sp>
        <p:nvSpPr>
          <p:cNvPr id="14" name="beatb-21"/>
          <p:cNvSpPr txBox="1"/>
          <p:nvPr/>
        </p:nvSpPr>
        <p:spPr>
          <a:xfrm>
            <a:off x="1965960" y="4974336"/>
            <a:ext cx="6217920" cy="548640"/>
          </a:xfrm>
          <a:prstGeom prst="rect">
            <a:avLst/>
          </a:prstGeom>
          <a:noFill/>
          <a:ln/>
        </p:spPr>
        <p:txBody>
          <a:bodyPr wrap="square" lIns="0" tIns="0" rIns="0" bIns="0" rtlCol="0" anchor="ctr"/>
          <a:lstStyle/>
          <a:p>
            <a:pPr indent="0" marL="0">
              <a:buNone/>
            </a:pPr>
            <a:r>
              <a:rPr lang="en-US" sz="1350" dirty="0">
                <a:solidFill>
                  <a:schemeClr val="tx1"/>
                </a:solidFill>
              </a:rPr>
              <a:t>Run ends. Train loss 0.95. Validation loss 5.6.</a:t>
            </a:r>
            <a:endParaRPr lang="en-US" sz="1350" dirty="0"/>
          </a:p>
        </p:txBody>
      </p:sp>
      <p:sp>
        <p:nvSpPr>
          <p:cNvPr id="15" name="card-22"/>
          <p:cNvSpPr/>
          <p:nvPr/>
        </p:nvSpPr>
        <p:spPr>
          <a:xfrm>
            <a:off x="8778240" y="1737360"/>
            <a:ext cx="2788920" cy="3941064"/>
          </a:xfrm>
          <a:prstGeom prst="roundRect">
            <a:avLst>
              <a:gd name="adj" fmla="val 2623"/>
            </a:avLst>
          </a:prstGeom>
          <a:solidFill>
            <a:schemeClr val="tx2"/>
          </a:solidFill>
          <a:ln w="12700">
            <a:solidFill>
              <a:schemeClr val="tx2"/>
            </a:solidFill>
            <a:prstDash val="solid"/>
          </a:ln>
        </p:spPr>
      </p:sp>
      <p:sp>
        <p:nvSpPr>
          <p:cNvPr id="16" name="big48-23"/>
          <p:cNvSpPr txBox="1"/>
          <p:nvPr/>
        </p:nvSpPr>
        <p:spPr>
          <a:xfrm>
            <a:off x="9052560" y="2606040"/>
            <a:ext cx="2240280" cy="1005840"/>
          </a:xfrm>
          <a:prstGeom prst="rect">
            <a:avLst/>
          </a:prstGeom>
          <a:noFill/>
          <a:ln/>
        </p:spPr>
        <p:txBody>
          <a:bodyPr wrap="square" lIns="0" tIns="0" rIns="0" bIns="0" rtlCol="0" anchor="ctr"/>
          <a:lstStyle/>
          <a:p>
            <a:pPr algn="ctr" indent="0" marL="0">
              <a:buNone/>
            </a:pPr>
            <a:r>
              <a:rPr lang="en-US" sz="6400" b="1" dirty="0">
                <a:solidFill>
                  <a:schemeClr val="accent1"/>
                </a:solidFill>
              </a:rPr>
              <a:t>48</a:t>
            </a:r>
            <a:endParaRPr lang="en-US" sz="6400" dirty="0"/>
          </a:p>
        </p:txBody>
      </p:sp>
      <p:sp>
        <p:nvSpPr>
          <p:cNvPr id="17" name="big48l-24"/>
          <p:cNvSpPr txBox="1"/>
          <p:nvPr/>
        </p:nvSpPr>
        <p:spPr>
          <a:xfrm>
            <a:off x="9052560" y="3657600"/>
            <a:ext cx="2240280" cy="457200"/>
          </a:xfrm>
          <a:prstGeom prst="rect">
            <a:avLst/>
          </a:prstGeom>
          <a:noFill/>
          <a:ln/>
        </p:spPr>
        <p:txBody>
          <a:bodyPr wrap="square" lIns="0" tIns="0" rIns="0" bIns="0" rtlCol="0" anchor="ctr"/>
          <a:lstStyle/>
          <a:p>
            <a:pPr algn="ctr" indent="0" marL="0">
              <a:buNone/>
            </a:pPr>
            <a:r>
              <a:rPr lang="en-US" sz="1500" b="1" dirty="0">
                <a:solidFill>
                  <a:schemeClr val="bg1"/>
                </a:solidFill>
              </a:rPr>
              <a:t>H100 hours, gone</a:t>
            </a:r>
            <a:endParaRPr lang="en-US" sz="1500" dirty="0"/>
          </a:p>
        </p:txBody>
      </p:sp>
      <p:sp>
        <p:nvSpPr>
          <p:cNvPr id="18" name="big48s-25"/>
          <p:cNvSpPr txBox="1"/>
          <p:nvPr/>
        </p:nvSpPr>
        <p:spPr>
          <a:xfrm>
            <a:off x="8961120" y="4133088"/>
            <a:ext cx="2423160" cy="731520"/>
          </a:xfrm>
          <a:prstGeom prst="rect">
            <a:avLst/>
          </a:prstGeom>
          <a:noFill/>
          <a:ln/>
        </p:spPr>
        <p:txBody>
          <a:bodyPr wrap="square" lIns="0" tIns="0" rIns="0" bIns="0" rtlCol="0" anchor="ctr"/>
          <a:lstStyle/>
          <a:p>
            <a:pPr algn="ctr" indent="0" marL="0">
              <a:buNone/>
            </a:pPr>
            <a:r>
              <a:rPr lang="en-US" sz="1200" dirty="0">
                <a:solidFill>
                  <a:srgbClr val="8A93A6"/>
                </a:solidFill>
              </a:rPr>
              <a:t>Two containers, one full day each</a:t>
            </a:r>
            <a:endParaRPr lang="en-US" sz="12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What actually happened</a:t>
            </a:r>
            <a:endParaRPr lang="en-US" sz="3200" dirty="0"/>
          </a:p>
        </p:txBody>
      </p:sp>
      <p:sp>
        <p:nvSpPr>
          <p:cNvPr id="3" name="card-26"/>
          <p:cNvSpPr/>
          <p:nvPr/>
        </p:nvSpPr>
        <p:spPr>
          <a:xfrm>
            <a:off x="594360" y="1691640"/>
            <a:ext cx="53492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tchead-27"/>
          <p:cNvSpPr txBox="1"/>
          <p:nvPr/>
        </p:nvSpPr>
        <p:spPr>
          <a:xfrm>
            <a:off x="905256" y="1911096"/>
            <a:ext cx="4727448" cy="512064"/>
          </a:xfrm>
          <a:prstGeom prst="rect">
            <a:avLst/>
          </a:prstGeom>
          <a:noFill/>
          <a:ln/>
        </p:spPr>
        <p:txBody>
          <a:bodyPr wrap="square" lIns="0" tIns="0" rIns="0" bIns="0" rtlCol="0" anchor="t"/>
          <a:lstStyle/>
          <a:p>
            <a:pPr indent="0" marL="0">
              <a:buNone/>
            </a:pPr>
            <a:r>
              <a:rPr lang="en-US" sz="1700" b="1" dirty="0">
                <a:solidFill>
                  <a:schemeClr val="accent5"/>
                </a:solidFill>
              </a:rPr>
              <a:t>Both containers trained on shard zero alone</a:t>
            </a:r>
            <a:endParaRPr lang="en-US" sz="1700" dirty="0"/>
          </a:p>
        </p:txBody>
      </p:sp>
      <p:sp>
        <p:nvSpPr>
          <p:cNvPr id="5" name="tcbody-28"/>
          <p:cNvSpPr txBox="1"/>
          <p:nvPr/>
        </p:nvSpPr>
        <p:spPr>
          <a:xfrm>
            <a:off x="905256" y="2478024"/>
            <a:ext cx="4727448" cy="1078992"/>
          </a:xfrm>
          <a:prstGeom prst="rect">
            <a:avLst/>
          </a:prstGeom>
          <a:noFill/>
          <a:ln/>
        </p:spPr>
        <p:txBody>
          <a:bodyPr wrap="square" lIns="0" tIns="0" rIns="0" bIns="0" rtlCol="0" anchor="t"/>
          <a:lstStyle/>
          <a:p>
            <a:pPr indent="0" marL="0">
              <a:buNone/>
            </a:pPr>
            <a:r>
              <a:rPr lang="en-US" sz="1350" dirty="0">
                <a:solidFill>
                  <a:schemeClr val="tx1"/>
                </a:solidFill>
              </a:rPr>
              <a:t>96 million tokens instead of the full corpus. About thirty epochs of the same data in twenty four hours. Train loss 0.95 against validation loss 5.6 is not a model that learned. It is a model that memorised.</a:t>
            </a:r>
            <a:endParaRPr lang="en-US" sz="1350" dirty="0"/>
          </a:p>
        </p:txBody>
      </p:sp>
      <p:sp>
        <p:nvSpPr>
          <p:cNvPr id="6" name="card-29"/>
          <p:cNvSpPr/>
          <p:nvPr/>
        </p:nvSpPr>
        <p:spPr>
          <a:xfrm>
            <a:off x="6217920" y="1691640"/>
            <a:ext cx="53492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tchead-30"/>
          <p:cNvSpPr txBox="1"/>
          <p:nvPr/>
        </p:nvSpPr>
        <p:spPr>
          <a:xfrm>
            <a:off x="6528816" y="1911096"/>
            <a:ext cx="4727448" cy="512064"/>
          </a:xfrm>
          <a:prstGeom prst="rect">
            <a:avLst/>
          </a:prstGeom>
          <a:noFill/>
          <a:ln/>
        </p:spPr>
        <p:txBody>
          <a:bodyPr wrap="square" lIns="0" tIns="0" rIns="0" bIns="0" rtlCol="0" anchor="t"/>
          <a:lstStyle/>
          <a:p>
            <a:pPr indent="0" marL="0">
              <a:buNone/>
            </a:pPr>
            <a:r>
              <a:rPr lang="en-US" sz="1700" b="1" dirty="0">
                <a:solidFill>
                  <a:schemeClr val="tx1"/>
                </a:solidFill>
              </a:rPr>
              <a:t>The cause, in one sentence</a:t>
            </a:r>
            <a:endParaRPr lang="en-US" sz="1700" dirty="0"/>
          </a:p>
        </p:txBody>
      </p:sp>
      <p:sp>
        <p:nvSpPr>
          <p:cNvPr id="8" name="tcbody-31"/>
          <p:cNvSpPr txBox="1"/>
          <p:nvPr/>
        </p:nvSpPr>
        <p:spPr>
          <a:xfrm>
            <a:off x="6528816" y="2478024"/>
            <a:ext cx="4727448" cy="1078992"/>
          </a:xfrm>
          <a:prstGeom prst="rect">
            <a:avLst/>
          </a:prstGeom>
          <a:noFill/>
          <a:ln/>
        </p:spPr>
        <p:txBody>
          <a:bodyPr wrap="square" lIns="0" tIns="0" rIns="0" bIns="0" rtlCol="0" anchor="t"/>
          <a:lstStyle/>
          <a:p>
            <a:pPr indent="0" marL="0">
              <a:buNone/>
            </a:pPr>
            <a:r>
              <a:rPr lang="en-US" sz="1350" dirty="0">
                <a:solidFill>
                  <a:schemeClr val="tx1"/>
                </a:solidFill>
              </a:rPr>
              <a:t>A container only sees files another container has committed after it explicitly reloads the volume. Neither training container ever reloaded, so both saw the corpus exactly as it looked the instant they started.</a:t>
            </a:r>
            <a:endParaRPr lang="en-US" sz="1350" dirty="0"/>
          </a:p>
        </p:txBody>
      </p:sp>
      <p:sp>
        <p:nvSpPr>
          <p:cNvPr id="9" name="card-32"/>
          <p:cNvSpPr/>
          <p:nvPr/>
        </p:nvSpPr>
        <p:spPr>
          <a:xfrm>
            <a:off x="594360" y="4069080"/>
            <a:ext cx="10972800" cy="1508760"/>
          </a:xfrm>
          <a:prstGeom prst="roundRect">
            <a:avLst>
              <a:gd name="adj" fmla="val 4848"/>
            </a:avLst>
          </a:prstGeom>
          <a:solidFill>
            <a:schemeClr val="tx2"/>
          </a:solidFill>
          <a:ln w="12700">
            <a:solidFill>
              <a:schemeClr val="tx2"/>
            </a:solidFill>
            <a:prstDash val="solid"/>
          </a:ln>
        </p:spPr>
      </p:sp>
      <p:sp>
        <p:nvSpPr>
          <p:cNvPr id="10" name="q1-33"/>
          <p:cNvSpPr txBox="1"/>
          <p:nvPr/>
        </p:nvSpPr>
        <p:spPr>
          <a:xfrm>
            <a:off x="1005840" y="4279392"/>
            <a:ext cx="10149840" cy="502920"/>
          </a:xfrm>
          <a:prstGeom prst="rect">
            <a:avLst/>
          </a:prstGeom>
          <a:noFill/>
          <a:ln/>
        </p:spPr>
        <p:txBody>
          <a:bodyPr wrap="square" lIns="0" tIns="0" rIns="0" bIns="0" rtlCol="0" anchor="ctr"/>
          <a:lstStyle/>
          <a:p>
            <a:pPr indent="0" marL="0">
              <a:buNone/>
            </a:pPr>
            <a:r>
              <a:rPr lang="en-US" sz="2200" b="1" dirty="0">
                <a:solidFill>
                  <a:schemeClr val="bg1"/>
                </a:solidFill>
              </a:rPr>
              <a:t>Nobody called it a cache. It is a cache.</a:t>
            </a:r>
            <a:endParaRPr lang="en-US" sz="2200" dirty="0"/>
          </a:p>
        </p:txBody>
      </p:sp>
      <p:sp>
        <p:nvSpPr>
          <p:cNvPr id="11" name="q1s-34"/>
          <p:cNvSpPr txBox="1"/>
          <p:nvPr/>
        </p:nvSpPr>
        <p:spPr>
          <a:xfrm>
            <a:off x="1005840" y="4800600"/>
            <a:ext cx="10149840" cy="640080"/>
          </a:xfrm>
          <a:prstGeom prst="rect">
            <a:avLst/>
          </a:prstGeom>
          <a:noFill/>
          <a:ln/>
        </p:spPr>
        <p:txBody>
          <a:bodyPr wrap="square" lIns="0" tIns="0" rIns="0" bIns="0" rtlCol="0" anchor="ctr"/>
          <a:lstStyle/>
          <a:p>
            <a:pPr indent="0" marL="0">
              <a:buNone/>
            </a:pPr>
            <a:r>
              <a:rPr lang="en-US" sz="1400" dirty="0">
                <a:solidFill>
                  <a:srgbClr val="8A93A6"/>
                </a:solidFill>
              </a:rPr>
              <a:t>A producer and a consumer sharing a network volume is a distributed systems problem, not a filesystem operation. I had been treating it as a directory.</a:t>
            </a:r>
            <a:endParaRPr lang="en-US" sz="14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94360" y="2286000"/>
            <a:ext cx="2743200" cy="914400"/>
          </a:xfrm>
          <a:prstGeom prst="rect">
            <a:avLst/>
          </a:prstGeom>
          <a:noFill/>
          <a:ln/>
        </p:spPr>
        <p:txBody>
          <a:bodyPr wrap="square" rtlCol="0" anchor="b"/>
          <a:lstStyle/>
          <a:p>
            <a:pPr algn="l" indent="0" marL="0">
              <a:buNone/>
            </a:pPr>
            <a:r>
              <a:rPr lang="en-US" sz="6400" b="1" dirty="0">
                <a:solidFill>
                  <a:srgbClr val="E8633A"/>
                </a:solidFill>
              </a:rPr>
              <a:t>02</a:t>
            </a:r>
            <a:endParaRPr lang="en-US" sz="6400" dirty="0"/>
          </a:p>
        </p:txBody>
      </p:sp>
      <p:sp>
        <p:nvSpPr>
          <p:cNvPr id="3" name="Text 0"/>
          <p:cNvSpPr/>
          <p:nvPr>
            <p:ph idx="101" type="title" hasCustomPrompt="1"/>
          </p:nvPr>
        </p:nvSpPr>
        <p:spPr>
          <a:xfrm>
            <a:off x="594360" y="3291840"/>
            <a:ext cx="10972800" cy="1097280"/>
          </a:xfrm>
          <a:prstGeom prst="rect">
            <a:avLst/>
          </a:prstGeom>
          <a:noFill/>
          <a:ln/>
        </p:spPr>
        <p:txBody>
          <a:bodyPr wrap="square" rtlCol="0" anchor="t"/>
          <a:lstStyle/>
          <a:p>
            <a:pPr algn="l" indent="0" marL="0">
              <a:buNone/>
            </a:pPr>
            <a:r>
              <a:rPr lang="en-US" sz="3800" b="1" dirty="0">
                <a:solidFill>
                  <a:schemeClr val="bg1"/>
                </a:solidFill>
              </a:rPr>
              <a:t>It was never one bug</a:t>
            </a:r>
            <a:endParaRPr lang="en-US" sz="3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What each one cost, in GPU hours</a:t>
            </a:r>
            <a:endParaRPr lang="en-US" sz="3200" dirty="0"/>
          </a:p>
        </p:txBody>
      </p:sp>
      <p:graphicFrame>
        <p:nvGraphicFramePr>
          <p:cNvPr id="3" name="Chart 0" descr=""/>
          <p:cNvGraphicFramePr/>
          <p:nvPr>
            <p:ph idx="101" type="chart" hasCustomPrompt="1"/>
          </p:nvPr>
        </p:nvGraphicFramePr>
        <p:xfrm>
          <a:off x="594360" y="150876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4" name="card-35"/>
          <p:cNvSpPr/>
          <p:nvPr/>
        </p:nvSpPr>
        <p:spPr>
          <a:xfrm>
            <a:off x="8321040" y="1737360"/>
            <a:ext cx="324612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5" name="tchead-36"/>
          <p:cNvSpPr txBox="1"/>
          <p:nvPr/>
        </p:nvSpPr>
        <p:spPr>
          <a:xfrm>
            <a:off x="8631936" y="1956816"/>
            <a:ext cx="2624328" cy="512064"/>
          </a:xfrm>
          <a:prstGeom prst="rect">
            <a:avLst/>
          </a:prstGeom>
          <a:noFill/>
          <a:ln/>
        </p:spPr>
        <p:txBody>
          <a:bodyPr wrap="square" lIns="0" tIns="0" rIns="0" bIns="0" rtlCol="0" anchor="t"/>
          <a:lstStyle/>
          <a:p>
            <a:pPr indent="0" marL="0">
              <a:buNone/>
            </a:pPr>
            <a:r>
              <a:rPr lang="en-US" sz="1700" b="1" dirty="0">
                <a:solidFill>
                  <a:schemeClr val="accent2"/>
                </a:solidFill>
              </a:rPr>
              <a:t>The green one is a saving</a:t>
            </a:r>
            <a:endParaRPr lang="en-US" sz="1700" dirty="0"/>
          </a:p>
        </p:txBody>
      </p:sp>
      <p:sp>
        <p:nvSpPr>
          <p:cNvPr id="6" name="tcbody-37"/>
          <p:cNvSpPr txBox="1"/>
          <p:nvPr/>
        </p:nvSpPr>
        <p:spPr>
          <a:xfrm>
            <a:off x="8631936" y="2523744"/>
            <a:ext cx="2624328" cy="987552"/>
          </a:xfrm>
          <a:prstGeom prst="rect">
            <a:avLst/>
          </a:prstGeom>
          <a:noFill/>
          <a:ln/>
        </p:spPr>
        <p:txBody>
          <a:bodyPr wrap="square" lIns="0" tIns="0" rIns="0" bIns="0" rtlCol="0" anchor="t"/>
          <a:lstStyle/>
          <a:p>
            <a:pPr indent="0" marL="0">
              <a:buNone/>
            </a:pPr>
            <a:r>
              <a:rPr lang="en-US" sz="1350" dirty="0">
                <a:solidFill>
                  <a:schemeClr val="tx1"/>
                </a:solidFill>
              </a:rPr>
              <a:t>An experiment that already existed, sitting in a results archive while the repository said it had never been run. One download instead of a GPU day.</a:t>
            </a:r>
            <a:endParaRPr lang="en-US" sz="1350" dirty="0"/>
          </a:p>
        </p:txBody>
      </p:sp>
      <p:sp>
        <p:nvSpPr>
          <p:cNvPr id="7" name="card-38"/>
          <p:cNvSpPr/>
          <p:nvPr/>
        </p:nvSpPr>
        <p:spPr>
          <a:xfrm>
            <a:off x="8321040" y="3931920"/>
            <a:ext cx="324612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8" name="tchead-39"/>
          <p:cNvSpPr txBox="1"/>
          <p:nvPr/>
        </p:nvSpPr>
        <p:spPr>
          <a:xfrm>
            <a:off x="8631936" y="4151376"/>
            <a:ext cx="2624328" cy="512064"/>
          </a:xfrm>
          <a:prstGeom prst="rect">
            <a:avLst/>
          </a:prstGeom>
          <a:noFill/>
          <a:ln/>
        </p:spPr>
        <p:txBody>
          <a:bodyPr wrap="square" lIns="0" tIns="0" rIns="0" bIns="0" rtlCol="0" anchor="t"/>
          <a:lstStyle/>
          <a:p>
            <a:pPr indent="0" marL="0">
              <a:buNone/>
            </a:pPr>
            <a:r>
              <a:rPr lang="en-US" sz="1700" b="1" dirty="0">
                <a:solidFill>
                  <a:schemeClr val="tx1"/>
                </a:solidFill>
              </a:rPr>
              <a:t>The cheapest to fix</a:t>
            </a:r>
            <a:endParaRPr lang="en-US" sz="1700" dirty="0"/>
          </a:p>
        </p:txBody>
      </p:sp>
      <p:sp>
        <p:nvSpPr>
          <p:cNvPr id="9" name="tcbody-40"/>
          <p:cNvSpPr txBox="1"/>
          <p:nvPr/>
        </p:nvSpPr>
        <p:spPr>
          <a:xfrm>
            <a:off x="8631936" y="4718304"/>
            <a:ext cx="2624328" cy="896112"/>
          </a:xfrm>
          <a:prstGeom prst="rect">
            <a:avLst/>
          </a:prstGeom>
          <a:noFill/>
          <a:ln/>
        </p:spPr>
        <p:txBody>
          <a:bodyPr wrap="square" lIns="0" tIns="0" rIns="0" bIns="0" rtlCol="0" anchor="t"/>
          <a:lstStyle/>
          <a:p>
            <a:pPr indent="0" marL="0">
              <a:buNone/>
            </a:pPr>
            <a:r>
              <a:rPr lang="en-US" sz="1350" dirty="0">
                <a:solidFill>
                  <a:schemeClr val="tx1"/>
                </a:solidFill>
              </a:rPr>
              <a:t>Was also the one with no error, no alert and no stack trace. It was a question of who owned the result, not of what the code did.</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Four more, and none of them were the model</a:t>
            </a:r>
            <a:endParaRPr lang="en-US" sz="3200" dirty="0"/>
          </a:p>
        </p:txBody>
      </p:sp>
      <p:sp>
        <p:nvSpPr>
          <p:cNvPr id="3" name="card-41"/>
          <p:cNvSpPr/>
          <p:nvPr/>
        </p:nvSpPr>
        <p:spPr>
          <a:xfrm>
            <a:off x="594360" y="169164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dot-42"/>
          <p:cNvSpPr/>
          <p:nvPr/>
        </p:nvSpPr>
        <p:spPr>
          <a:xfrm>
            <a:off x="868680" y="1947672"/>
            <a:ext cx="420624" cy="420624"/>
          </a:xfrm>
          <a:prstGeom prst="ellipse">
            <a:avLst/>
          </a:prstGeom>
          <a:solidFill>
            <a:schemeClr val="accent1"/>
          </a:solidFill>
          <a:ln w="12700">
            <a:solidFill>
              <a:schemeClr val="accent1"/>
            </a:solidFill>
            <a:prstDash val="solid"/>
          </a:ln>
        </p:spPr>
      </p:sp>
      <p:sp>
        <p:nvSpPr>
          <p:cNvPr id="5" name="dotnum-43"/>
          <p:cNvSpPr txBox="1"/>
          <p:nvPr/>
        </p:nvSpPr>
        <p:spPr>
          <a:xfrm>
            <a:off x="868680" y="19476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cardhead-44"/>
          <p:cNvSpPr txBox="1"/>
          <p:nvPr/>
        </p:nvSpPr>
        <p:spPr>
          <a:xfrm>
            <a:off x="1435608" y="192938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The foreground launch</a:t>
            </a:r>
            <a:endParaRPr lang="en-US" sz="1700" dirty="0"/>
          </a:p>
        </p:txBody>
      </p:sp>
      <p:sp>
        <p:nvSpPr>
          <p:cNvPr id="7" name="cardbody-45"/>
          <p:cNvSpPr txBox="1"/>
          <p:nvPr/>
        </p:nvSpPr>
        <p:spPr>
          <a:xfrm>
            <a:off x="1435608" y="2386584"/>
            <a:ext cx="4206240" cy="1005840"/>
          </a:xfrm>
          <a:prstGeom prst="rect">
            <a:avLst/>
          </a:prstGeom>
          <a:noFill/>
          <a:ln/>
        </p:spPr>
        <p:txBody>
          <a:bodyPr wrap="square" lIns="0" tIns="0" rIns="0" bIns="0" rtlCol="0" anchor="t"/>
          <a:lstStyle/>
          <a:p>
            <a:pPr indent="0" marL="0">
              <a:buNone/>
            </a:pPr>
            <a:r>
              <a:rPr lang="en-US" sz="1350" dirty="0">
                <a:solidFill>
                  <a:schemeClr val="tx1"/>
                </a:solidFill>
              </a:rPr>
              <a:t>The platform's default mode ties the remote job's life to my laptop's connection. A local DNS blip tore down four concurrently running jobs. They survived only because the scripts checkpoint.</a:t>
            </a:r>
            <a:endParaRPr lang="en-US" sz="1350" dirty="0"/>
          </a:p>
        </p:txBody>
      </p:sp>
      <p:sp>
        <p:nvSpPr>
          <p:cNvPr id="8" name="card-46"/>
          <p:cNvSpPr/>
          <p:nvPr/>
        </p:nvSpPr>
        <p:spPr>
          <a:xfrm>
            <a:off x="6217920" y="169164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9" name="dot-47"/>
          <p:cNvSpPr/>
          <p:nvPr/>
        </p:nvSpPr>
        <p:spPr>
          <a:xfrm>
            <a:off x="6492240" y="1947672"/>
            <a:ext cx="420624" cy="420624"/>
          </a:xfrm>
          <a:prstGeom prst="ellipse">
            <a:avLst/>
          </a:prstGeom>
          <a:solidFill>
            <a:schemeClr val="accent1"/>
          </a:solidFill>
          <a:ln w="12700">
            <a:solidFill>
              <a:schemeClr val="accent1"/>
            </a:solidFill>
            <a:prstDash val="solid"/>
          </a:ln>
        </p:spPr>
      </p:sp>
      <p:sp>
        <p:nvSpPr>
          <p:cNvPr id="10" name="dotnum-48"/>
          <p:cNvSpPr txBox="1"/>
          <p:nvPr/>
        </p:nvSpPr>
        <p:spPr>
          <a:xfrm>
            <a:off x="6492240" y="19476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cardhead-49"/>
          <p:cNvSpPr txBox="1"/>
          <p:nvPr/>
        </p:nvSpPr>
        <p:spPr>
          <a:xfrm>
            <a:off x="7059168" y="192938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A twenty four hour function cap</a:t>
            </a:r>
            <a:endParaRPr lang="en-US" sz="1700" dirty="0"/>
          </a:p>
        </p:txBody>
      </p:sp>
      <p:sp>
        <p:nvSpPr>
          <p:cNvPr id="12" name="cardbody-50"/>
          <p:cNvSpPr txBox="1"/>
          <p:nvPr/>
        </p:nvSpPr>
        <p:spPr>
          <a:xfrm>
            <a:off x="7059168" y="2386584"/>
            <a:ext cx="4206240" cy="1005840"/>
          </a:xfrm>
          <a:prstGeom prst="rect">
            <a:avLst/>
          </a:prstGeom>
          <a:noFill/>
          <a:ln/>
        </p:spPr>
        <p:txBody>
          <a:bodyPr wrap="square" lIns="0" tIns="0" rIns="0" bIns="0" rtlCol="0" anchor="t"/>
          <a:lstStyle/>
          <a:p>
            <a:pPr indent="0" marL="0">
              <a:buNone/>
            </a:pPr>
            <a:r>
              <a:rPr lang="en-US" sz="1350" dirty="0">
                <a:solidFill>
                  <a:schemeClr val="tx1"/>
                </a:solidFill>
              </a:rPr>
              <a:t>Discovered while planning a six day run. Fix is a resume chain: run under a timeout, checkpoint on the termination signal, respawn on the timeout exit code.</a:t>
            </a:r>
            <a:endParaRPr lang="en-US" sz="1350" dirty="0"/>
          </a:p>
        </p:txBody>
      </p:sp>
      <p:sp>
        <p:nvSpPr>
          <p:cNvPr id="13" name="card-51"/>
          <p:cNvSpPr/>
          <p:nvPr/>
        </p:nvSpPr>
        <p:spPr>
          <a:xfrm>
            <a:off x="594360" y="384048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4" name="dot-52"/>
          <p:cNvSpPr/>
          <p:nvPr/>
        </p:nvSpPr>
        <p:spPr>
          <a:xfrm>
            <a:off x="868680" y="4096512"/>
            <a:ext cx="420624" cy="420624"/>
          </a:xfrm>
          <a:prstGeom prst="ellipse">
            <a:avLst/>
          </a:prstGeom>
          <a:solidFill>
            <a:schemeClr val="accent1"/>
          </a:solidFill>
          <a:ln w="12700">
            <a:solidFill>
              <a:schemeClr val="accent1"/>
            </a:solidFill>
            <a:prstDash val="solid"/>
          </a:ln>
        </p:spPr>
      </p:sp>
      <p:sp>
        <p:nvSpPr>
          <p:cNvPr id="15" name="dotnum-53"/>
          <p:cNvSpPr txBox="1"/>
          <p:nvPr/>
        </p:nvSpPr>
        <p:spPr>
          <a:xfrm>
            <a:off x="868680" y="409651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cardhead-54"/>
          <p:cNvSpPr txBox="1"/>
          <p:nvPr/>
        </p:nvSpPr>
        <p:spPr>
          <a:xfrm>
            <a:off x="1435608" y="407822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Two workspaces, one volume name</a:t>
            </a:r>
            <a:endParaRPr lang="en-US" sz="1700" dirty="0"/>
          </a:p>
        </p:txBody>
      </p:sp>
      <p:sp>
        <p:nvSpPr>
          <p:cNvPr id="17" name="cardbody-55"/>
          <p:cNvSpPr txBox="1"/>
          <p:nvPr/>
        </p:nvSpPr>
        <p:spPr>
          <a:xfrm>
            <a:off x="1435608" y="4535424"/>
            <a:ext cx="4206240" cy="1005840"/>
          </a:xfrm>
          <a:prstGeom prst="rect">
            <a:avLst/>
          </a:prstGeom>
          <a:noFill/>
          <a:ln/>
        </p:spPr>
        <p:txBody>
          <a:bodyPr wrap="square" lIns="0" tIns="0" rIns="0" bIns="0" rtlCol="0" anchor="t"/>
          <a:lstStyle/>
          <a:p>
            <a:pPr indent="0" marL="0">
              <a:buNone/>
            </a:pPr>
            <a:r>
              <a:rPr lang="en-US" sz="1350" dirty="0">
                <a:solidFill>
                  <a:schemeClr val="tx1"/>
                </a:solidFill>
              </a:rPr>
              <a:t>The same volume name existed in two workspaces with different contents. A listing from the wrong one looked exactly like catastrophic data loss, for about ten very bad minutes.</a:t>
            </a:r>
            <a:endParaRPr lang="en-US" sz="1350" dirty="0"/>
          </a:p>
        </p:txBody>
      </p:sp>
      <p:sp>
        <p:nvSpPr>
          <p:cNvPr id="18" name="card-56"/>
          <p:cNvSpPr/>
          <p:nvPr/>
        </p:nvSpPr>
        <p:spPr>
          <a:xfrm>
            <a:off x="6217920" y="384048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9" name="dot-57"/>
          <p:cNvSpPr/>
          <p:nvPr/>
        </p:nvSpPr>
        <p:spPr>
          <a:xfrm>
            <a:off x="6492240" y="4096512"/>
            <a:ext cx="420624" cy="420624"/>
          </a:xfrm>
          <a:prstGeom prst="ellipse">
            <a:avLst/>
          </a:prstGeom>
          <a:solidFill>
            <a:schemeClr val="accent1"/>
          </a:solidFill>
          <a:ln w="12700">
            <a:solidFill>
              <a:schemeClr val="accent1"/>
            </a:solidFill>
            <a:prstDash val="solid"/>
          </a:ln>
        </p:spPr>
      </p:sp>
      <p:sp>
        <p:nvSpPr>
          <p:cNvPr id="20" name="dotnum-58"/>
          <p:cNvSpPr txBox="1"/>
          <p:nvPr/>
        </p:nvSpPr>
        <p:spPr>
          <a:xfrm>
            <a:off x="6492240" y="409651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cardhead-59"/>
          <p:cNvSpPr txBox="1"/>
          <p:nvPr/>
        </p:nvSpPr>
        <p:spPr>
          <a:xfrm>
            <a:off x="7059168" y="407822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A zero sized persistent volume</a:t>
            </a:r>
            <a:endParaRPr lang="en-US" sz="1700" dirty="0"/>
          </a:p>
        </p:txBody>
      </p:sp>
      <p:sp>
        <p:nvSpPr>
          <p:cNvPr id="22" name="cardbody-60"/>
          <p:cNvSpPr txBox="1"/>
          <p:nvPr/>
        </p:nvSpPr>
        <p:spPr>
          <a:xfrm>
            <a:off x="7059168" y="4535424"/>
            <a:ext cx="4206240" cy="1005840"/>
          </a:xfrm>
          <a:prstGeom prst="rect">
            <a:avLst/>
          </a:prstGeom>
          <a:noFill/>
          <a:ln/>
        </p:spPr>
        <p:txBody>
          <a:bodyPr wrap="square" lIns="0" tIns="0" rIns="0" bIns="0" rtlCol="0" anchor="t"/>
          <a:lstStyle/>
          <a:p>
            <a:pPr indent="0" marL="0">
              <a:buNone/>
            </a:pPr>
            <a:r>
              <a:rPr lang="en-US" sz="1350" dirty="0">
                <a:solidFill>
                  <a:schemeClr val="tx1"/>
                </a:solidFill>
              </a:rPr>
              <a:t>A pod created with no persistent storage attached on an earlier platform. Ten hours of work, nothing on disk at the end of it.</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The common shape</a:t>
            </a:r>
            <a:endParaRPr lang="en-US" sz="3200" dirty="0"/>
          </a:p>
        </p:txBody>
      </p:sp>
      <p:sp>
        <p:nvSpPr>
          <p:cNvPr id="3" name="shape-61"/>
          <p:cNvSpPr txBox="1"/>
          <p:nvPr/>
        </p:nvSpPr>
        <p:spPr>
          <a:xfrm>
            <a:off x="594360" y="1600200"/>
            <a:ext cx="10972800" cy="640080"/>
          </a:xfrm>
          <a:prstGeom prst="rect">
            <a:avLst/>
          </a:prstGeom>
          <a:noFill/>
          <a:ln/>
        </p:spPr>
        <p:txBody>
          <a:bodyPr wrap="square" lIns="0" tIns="0" rIns="0" bIns="0" rtlCol="0" anchor="ctr"/>
          <a:lstStyle/>
          <a:p>
            <a:pPr indent="0" marL="0">
              <a:buNone/>
            </a:pPr>
            <a:r>
              <a:rPr lang="en-US" sz="2100" b="1" dirty="0">
                <a:solidFill>
                  <a:schemeClr val="tx1"/>
                </a:solidFill>
              </a:rPr>
              <a:t>Every expensive failure was a question about what was responsible for something, answered wrong.</a:t>
            </a:r>
            <a:endParaRPr lang="en-US" sz="2100" dirty="0"/>
          </a:p>
        </p:txBody>
      </p:sp>
      <p:sp>
        <p:nvSpPr>
          <p:cNvPr id="4" name="card-62"/>
          <p:cNvSpPr/>
          <p:nvPr/>
        </p:nvSpPr>
        <p:spPr>
          <a:xfrm>
            <a:off x="594360" y="2514600"/>
            <a:ext cx="3502152"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5" name="tchead-63"/>
          <p:cNvSpPr txBox="1"/>
          <p:nvPr/>
        </p:nvSpPr>
        <p:spPr>
          <a:xfrm>
            <a:off x="905256" y="2734056"/>
            <a:ext cx="2880360" cy="512064"/>
          </a:xfrm>
          <a:prstGeom prst="rect">
            <a:avLst/>
          </a:prstGeom>
          <a:noFill/>
          <a:ln/>
        </p:spPr>
        <p:txBody>
          <a:bodyPr wrap="square" lIns="0" tIns="0" rIns="0" bIns="0" rtlCol="0" anchor="t"/>
          <a:lstStyle/>
          <a:p>
            <a:pPr indent="0" marL="0">
              <a:buNone/>
            </a:pPr>
            <a:r>
              <a:rPr lang="en-US" sz="1700" b="1" dirty="0">
                <a:solidFill>
                  <a:schemeClr val="accent1"/>
                </a:solidFill>
              </a:rPr>
              <a:t>Shared state</a:t>
            </a:r>
            <a:endParaRPr lang="en-US" sz="1700" dirty="0"/>
          </a:p>
        </p:txBody>
      </p:sp>
      <p:sp>
        <p:nvSpPr>
          <p:cNvPr id="6" name="tcbody-64"/>
          <p:cNvSpPr txBox="1"/>
          <p:nvPr/>
        </p:nvSpPr>
        <p:spPr>
          <a:xfrm>
            <a:off x="905256" y="3300984"/>
            <a:ext cx="2880360" cy="1078992"/>
          </a:xfrm>
          <a:prstGeom prst="rect">
            <a:avLst/>
          </a:prstGeom>
          <a:noFill/>
          <a:ln/>
        </p:spPr>
        <p:txBody>
          <a:bodyPr wrap="square" lIns="0" tIns="0" rIns="0" bIns="0" rtlCol="0" anchor="t"/>
          <a:lstStyle/>
          <a:p>
            <a:pPr indent="0" marL="0">
              <a:buNone/>
            </a:pPr>
            <a:r>
              <a:rPr lang="en-US" sz="1350" dirty="0">
                <a:solidFill>
                  <a:schemeClr val="tx1"/>
                </a:solidFill>
              </a:rPr>
              <a:t>Who guarantees the input is complete before a consumer reads it? I assumed the filesystem did. It does not.</a:t>
            </a:r>
            <a:endParaRPr lang="en-US" sz="1350" dirty="0"/>
          </a:p>
        </p:txBody>
      </p:sp>
      <p:sp>
        <p:nvSpPr>
          <p:cNvPr id="7" name="card-65"/>
          <p:cNvSpPr/>
          <p:nvPr/>
        </p:nvSpPr>
        <p:spPr>
          <a:xfrm>
            <a:off x="4325112" y="2514600"/>
            <a:ext cx="3502152"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8" name="tchead-66"/>
          <p:cNvSpPr txBox="1"/>
          <p:nvPr/>
        </p:nvSpPr>
        <p:spPr>
          <a:xfrm>
            <a:off x="4636008" y="2734056"/>
            <a:ext cx="2880360" cy="512064"/>
          </a:xfrm>
          <a:prstGeom prst="rect">
            <a:avLst/>
          </a:prstGeom>
          <a:noFill/>
          <a:ln/>
        </p:spPr>
        <p:txBody>
          <a:bodyPr wrap="square" lIns="0" tIns="0" rIns="0" bIns="0" rtlCol="0" anchor="t"/>
          <a:lstStyle/>
          <a:p>
            <a:pPr indent="0" marL="0">
              <a:buNone/>
            </a:pPr>
            <a:r>
              <a:rPr lang="en-US" sz="1700" b="1" dirty="0">
                <a:solidFill>
                  <a:schemeClr val="accent1"/>
                </a:solidFill>
              </a:rPr>
              <a:t>Lifetime</a:t>
            </a:r>
            <a:endParaRPr lang="en-US" sz="1700" dirty="0"/>
          </a:p>
        </p:txBody>
      </p:sp>
      <p:sp>
        <p:nvSpPr>
          <p:cNvPr id="9" name="tcbody-67"/>
          <p:cNvSpPr txBox="1"/>
          <p:nvPr/>
        </p:nvSpPr>
        <p:spPr>
          <a:xfrm>
            <a:off x="4636008" y="3300984"/>
            <a:ext cx="2880360" cy="1078992"/>
          </a:xfrm>
          <a:prstGeom prst="rect">
            <a:avLst/>
          </a:prstGeom>
          <a:noFill/>
          <a:ln/>
        </p:spPr>
        <p:txBody>
          <a:bodyPr wrap="square" lIns="0" tIns="0" rIns="0" bIns="0" rtlCol="0" anchor="t"/>
          <a:lstStyle/>
          <a:p>
            <a:pPr indent="0" marL="0">
              <a:buNone/>
            </a:pPr>
            <a:r>
              <a:rPr lang="en-US" sz="1350" dirty="0">
                <a:solidFill>
                  <a:schemeClr val="tx1"/>
                </a:solidFill>
              </a:rPr>
              <a:t>What keeps the remote work alive, and for how long? I assumed my terminal was incidental. It was load bearing.</a:t>
            </a:r>
            <a:endParaRPr lang="en-US" sz="1350" dirty="0"/>
          </a:p>
        </p:txBody>
      </p:sp>
      <p:sp>
        <p:nvSpPr>
          <p:cNvPr id="10" name="card-68"/>
          <p:cNvSpPr/>
          <p:nvPr/>
        </p:nvSpPr>
        <p:spPr>
          <a:xfrm>
            <a:off x="8065008" y="2514600"/>
            <a:ext cx="3502152"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1" name="tchead-69"/>
          <p:cNvSpPr txBox="1"/>
          <p:nvPr/>
        </p:nvSpPr>
        <p:spPr>
          <a:xfrm>
            <a:off x="8375904" y="2734056"/>
            <a:ext cx="2880360" cy="512064"/>
          </a:xfrm>
          <a:prstGeom prst="rect">
            <a:avLst/>
          </a:prstGeom>
          <a:noFill/>
          <a:ln/>
        </p:spPr>
        <p:txBody>
          <a:bodyPr wrap="square" lIns="0" tIns="0" rIns="0" bIns="0" rtlCol="0" anchor="t"/>
          <a:lstStyle/>
          <a:p>
            <a:pPr indent="0" marL="0">
              <a:buNone/>
            </a:pPr>
            <a:r>
              <a:rPr lang="en-US" sz="1700" b="1" dirty="0">
                <a:solidFill>
                  <a:schemeClr val="accent1"/>
                </a:solidFill>
              </a:rPr>
              <a:t>Ownership of results</a:t>
            </a:r>
            <a:endParaRPr lang="en-US" sz="1700" dirty="0"/>
          </a:p>
        </p:txBody>
      </p:sp>
      <p:sp>
        <p:nvSpPr>
          <p:cNvPr id="12" name="tcbody-70"/>
          <p:cNvSpPr txBox="1"/>
          <p:nvPr/>
        </p:nvSpPr>
        <p:spPr>
          <a:xfrm>
            <a:off x="8375904" y="3300984"/>
            <a:ext cx="2880360" cy="1078992"/>
          </a:xfrm>
          <a:prstGeom prst="rect">
            <a:avLst/>
          </a:prstGeom>
          <a:noFill/>
          <a:ln/>
        </p:spPr>
        <p:txBody>
          <a:bodyPr wrap="square" lIns="0" tIns="0" rIns="0" bIns="0" rtlCol="0" anchor="t"/>
          <a:lstStyle/>
          <a:p>
            <a:pPr indent="0" marL="0">
              <a:buNone/>
            </a:pPr>
            <a:r>
              <a:rPr lang="en-US" sz="1350" dirty="0">
                <a:solidFill>
                  <a:schemeClr val="tx1"/>
                </a:solidFill>
              </a:rPr>
              <a:t>Who is responsible for a finished result reaching the place people read? Nobody was, so it did not.</a:t>
            </a:r>
            <a:endParaRPr lang="en-US" sz="1350" dirty="0"/>
          </a:p>
        </p:txBody>
      </p:sp>
      <p:sp>
        <p:nvSpPr>
          <p:cNvPr id="13" name="shapesub-71"/>
          <p:cNvSpPr txBox="1"/>
          <p:nvPr/>
        </p:nvSpPr>
        <p:spPr>
          <a:xfrm>
            <a:off x="594360" y="4983480"/>
            <a:ext cx="10972800" cy="548640"/>
          </a:xfrm>
          <a:prstGeom prst="rect">
            <a:avLst/>
          </a:prstGeom>
          <a:noFill/>
          <a:ln/>
        </p:spPr>
        <p:txBody>
          <a:bodyPr wrap="square" lIns="0" tIns="0" rIns="0" bIns="0" rtlCol="0" anchor="ctr"/>
          <a:lstStyle/>
          <a:p>
            <a:pPr indent="0" marL="0">
              <a:buNone/>
            </a:pPr>
            <a:r>
              <a:rPr lang="en-US" sz="1500" i="1" dirty="0">
                <a:solidFill>
                  <a:srgbClr val="6B7280"/>
                </a:solidFill>
              </a:rPr>
              <a:t>Not one of them needed a better model. All three needed somebody to have decided who was responsible.</a:t>
            </a:r>
            <a:endParaRPr lang="en-US" sz="15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94360" y="2286000"/>
            <a:ext cx="2743200" cy="914400"/>
          </a:xfrm>
          <a:prstGeom prst="rect">
            <a:avLst/>
          </a:prstGeom>
          <a:noFill/>
          <a:ln/>
        </p:spPr>
        <p:txBody>
          <a:bodyPr wrap="square" rtlCol="0" anchor="b"/>
          <a:lstStyle/>
          <a:p>
            <a:pPr algn="l" indent="0" marL="0">
              <a:buNone/>
            </a:pPr>
            <a:r>
              <a:rPr lang="en-US" sz="6400" b="1" dirty="0">
                <a:solidFill>
                  <a:srgbClr val="E8633A"/>
                </a:solidFill>
              </a:rPr>
              <a:t>03</a:t>
            </a:r>
            <a:endParaRPr lang="en-US" sz="6400" dirty="0"/>
          </a:p>
        </p:txBody>
      </p:sp>
      <p:sp>
        <p:nvSpPr>
          <p:cNvPr id="3" name="Text 0"/>
          <p:cNvSpPr/>
          <p:nvPr>
            <p:ph idx="101" type="title" hasCustomPrompt="1"/>
          </p:nvPr>
        </p:nvSpPr>
        <p:spPr>
          <a:xfrm>
            <a:off x="594360" y="3291840"/>
            <a:ext cx="10972800" cy="1097280"/>
          </a:xfrm>
          <a:prstGeom prst="rect">
            <a:avLst/>
          </a:prstGeom>
          <a:noFill/>
          <a:ln/>
        </p:spPr>
        <p:txBody>
          <a:bodyPr wrap="square" rtlCol="0" anchor="t"/>
          <a:lstStyle/>
          <a:p>
            <a:pPr algn="l" indent="0" marL="0">
              <a:buNone/>
            </a:pPr>
            <a:r>
              <a:rPr lang="en-US" sz="3800" b="1" dirty="0">
                <a:solidFill>
                  <a:schemeClr val="bg1"/>
                </a:solidFill>
              </a:rPr>
              <a:t>What I do differently now</a:t>
            </a:r>
            <a:endParaRPr lang="en-US" sz="3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Four practices</a:t>
            </a:r>
            <a:endParaRPr lang="en-US" sz="3200" dirty="0"/>
          </a:p>
        </p:txBody>
      </p:sp>
      <p:sp>
        <p:nvSpPr>
          <p:cNvPr id="3" name="card-72"/>
          <p:cNvSpPr/>
          <p:nvPr/>
        </p:nvSpPr>
        <p:spPr>
          <a:xfrm>
            <a:off x="594360" y="169164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dot-73"/>
          <p:cNvSpPr/>
          <p:nvPr/>
        </p:nvSpPr>
        <p:spPr>
          <a:xfrm>
            <a:off x="868680" y="1947672"/>
            <a:ext cx="420624" cy="420624"/>
          </a:xfrm>
          <a:prstGeom prst="ellipse">
            <a:avLst/>
          </a:prstGeom>
          <a:solidFill>
            <a:schemeClr val="accent2"/>
          </a:solidFill>
          <a:ln w="12700">
            <a:solidFill>
              <a:schemeClr val="accent2"/>
            </a:solidFill>
            <a:prstDash val="solid"/>
          </a:ln>
        </p:spPr>
      </p:sp>
      <p:sp>
        <p:nvSpPr>
          <p:cNvPr id="5" name="dotnum-74"/>
          <p:cNvSpPr txBox="1"/>
          <p:nvPr/>
        </p:nvSpPr>
        <p:spPr>
          <a:xfrm>
            <a:off x="868680" y="19476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cardhead-75"/>
          <p:cNvSpPr txBox="1"/>
          <p:nvPr/>
        </p:nvSpPr>
        <p:spPr>
          <a:xfrm>
            <a:off x="1435608" y="192938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Cheap screens before spend</a:t>
            </a:r>
            <a:endParaRPr lang="en-US" sz="1700" dirty="0"/>
          </a:p>
        </p:txBody>
      </p:sp>
      <p:sp>
        <p:nvSpPr>
          <p:cNvPr id="7" name="cardbody-76"/>
          <p:cNvSpPr txBox="1"/>
          <p:nvPr/>
        </p:nvSpPr>
        <p:spPr>
          <a:xfrm>
            <a:off x="1435608" y="2386584"/>
            <a:ext cx="4206240" cy="1005840"/>
          </a:xfrm>
          <a:prstGeom prst="rect">
            <a:avLst/>
          </a:prstGeom>
          <a:noFill/>
          <a:ln/>
        </p:spPr>
        <p:txBody>
          <a:bodyPr wrap="square" lIns="0" tIns="0" rIns="0" bIns="0" rtlCol="0" anchor="t"/>
          <a:lstStyle/>
          <a:p>
            <a:pPr indent="0" marL="0">
              <a:buNone/>
            </a:pPr>
            <a:r>
              <a:rPr lang="en-US" sz="1350" dirty="0">
                <a:solidFill>
                  <a:schemeClr val="tx1"/>
                </a:solidFill>
              </a:rPr>
              <a:t>Compile it, run one tiny pass end to end on CPU, measure real throughput, then choose a budget. This has caught more of my expensive mistakes than reading the code ever did.</a:t>
            </a:r>
            <a:endParaRPr lang="en-US" sz="1350" dirty="0"/>
          </a:p>
        </p:txBody>
      </p:sp>
      <p:sp>
        <p:nvSpPr>
          <p:cNvPr id="8" name="card-77"/>
          <p:cNvSpPr/>
          <p:nvPr/>
        </p:nvSpPr>
        <p:spPr>
          <a:xfrm>
            <a:off x="6217920" y="169164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9" name="dot-78"/>
          <p:cNvSpPr/>
          <p:nvPr/>
        </p:nvSpPr>
        <p:spPr>
          <a:xfrm>
            <a:off x="6492240" y="1947672"/>
            <a:ext cx="420624" cy="420624"/>
          </a:xfrm>
          <a:prstGeom prst="ellipse">
            <a:avLst/>
          </a:prstGeom>
          <a:solidFill>
            <a:schemeClr val="accent2"/>
          </a:solidFill>
          <a:ln w="12700">
            <a:solidFill>
              <a:schemeClr val="accent2"/>
            </a:solidFill>
            <a:prstDash val="solid"/>
          </a:ln>
        </p:spPr>
      </p:sp>
      <p:sp>
        <p:nvSpPr>
          <p:cNvPr id="10" name="dotnum-79"/>
          <p:cNvSpPr txBox="1"/>
          <p:nvPr/>
        </p:nvSpPr>
        <p:spPr>
          <a:xfrm>
            <a:off x="6492240" y="194767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cardhead-80"/>
          <p:cNvSpPr txBox="1"/>
          <p:nvPr/>
        </p:nvSpPr>
        <p:spPr>
          <a:xfrm>
            <a:off x="7059168" y="192938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Consumers assert, they do not trust</a:t>
            </a:r>
            <a:endParaRPr lang="en-US" sz="1700" dirty="0"/>
          </a:p>
        </p:txBody>
      </p:sp>
      <p:sp>
        <p:nvSpPr>
          <p:cNvPr id="12" name="cardbody-81"/>
          <p:cNvSpPr txBox="1"/>
          <p:nvPr/>
        </p:nvSpPr>
        <p:spPr>
          <a:xfrm>
            <a:off x="7059168" y="2386584"/>
            <a:ext cx="4206240" cy="1005840"/>
          </a:xfrm>
          <a:prstGeom prst="rect">
            <a:avLst/>
          </a:prstGeom>
          <a:noFill/>
          <a:ln/>
        </p:spPr>
        <p:txBody>
          <a:bodyPr wrap="square" lIns="0" tIns="0" rIns="0" bIns="0" rtlCol="0" anchor="t"/>
          <a:lstStyle/>
          <a:p>
            <a:pPr indent="0" marL="0">
              <a:buNone/>
            </a:pPr>
            <a:r>
              <a:rPr lang="en-US" sz="1350" dirty="0">
                <a:solidFill>
                  <a:schemeClr val="tx1"/>
                </a:solidFill>
              </a:rPr>
              <a:t>A training job now refuses to start unless the token count it can see matches the token count it was promised. The check is three lines and would have saved 48 hours.</a:t>
            </a:r>
            <a:endParaRPr lang="en-US" sz="1350" dirty="0"/>
          </a:p>
        </p:txBody>
      </p:sp>
      <p:sp>
        <p:nvSpPr>
          <p:cNvPr id="13" name="card-82"/>
          <p:cNvSpPr/>
          <p:nvPr/>
        </p:nvSpPr>
        <p:spPr>
          <a:xfrm>
            <a:off x="594360" y="384048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4" name="dot-83"/>
          <p:cNvSpPr/>
          <p:nvPr/>
        </p:nvSpPr>
        <p:spPr>
          <a:xfrm>
            <a:off x="868680" y="4096512"/>
            <a:ext cx="420624" cy="420624"/>
          </a:xfrm>
          <a:prstGeom prst="ellipse">
            <a:avLst/>
          </a:prstGeom>
          <a:solidFill>
            <a:schemeClr val="accent2"/>
          </a:solidFill>
          <a:ln w="12700">
            <a:solidFill>
              <a:schemeClr val="accent2"/>
            </a:solidFill>
            <a:prstDash val="solid"/>
          </a:ln>
        </p:spPr>
      </p:sp>
      <p:sp>
        <p:nvSpPr>
          <p:cNvPr id="15" name="dotnum-84"/>
          <p:cNvSpPr txBox="1"/>
          <p:nvPr/>
        </p:nvSpPr>
        <p:spPr>
          <a:xfrm>
            <a:off x="868680" y="409651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cardhead-85"/>
          <p:cNvSpPr txBox="1"/>
          <p:nvPr/>
        </p:nvSpPr>
        <p:spPr>
          <a:xfrm>
            <a:off x="1435608" y="407822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Detach by default, checkpoint always</a:t>
            </a:r>
            <a:endParaRPr lang="en-US" sz="1700" dirty="0"/>
          </a:p>
        </p:txBody>
      </p:sp>
      <p:sp>
        <p:nvSpPr>
          <p:cNvPr id="17" name="cardbody-86"/>
          <p:cNvSpPr txBox="1"/>
          <p:nvPr/>
        </p:nvSpPr>
        <p:spPr>
          <a:xfrm>
            <a:off x="1435608" y="4535424"/>
            <a:ext cx="4206240" cy="1005840"/>
          </a:xfrm>
          <a:prstGeom prst="rect">
            <a:avLst/>
          </a:prstGeom>
          <a:noFill/>
          <a:ln/>
        </p:spPr>
        <p:txBody>
          <a:bodyPr wrap="square" lIns="0" tIns="0" rIns="0" bIns="0" rtlCol="0" anchor="t"/>
          <a:lstStyle/>
          <a:p>
            <a:pPr indent="0" marL="0">
              <a:buNone/>
            </a:pPr>
            <a:r>
              <a:rPr lang="en-US" sz="1350" dirty="0">
                <a:solidFill>
                  <a:schemeClr val="tx1"/>
                </a:solidFill>
              </a:rPr>
              <a:t>Assume the control plane will disconnect, because it will. Every failure in this talk was survivable in proportion to how recently the job had checkpointed.</a:t>
            </a:r>
            <a:endParaRPr lang="en-US" sz="1350" dirty="0"/>
          </a:p>
        </p:txBody>
      </p:sp>
      <p:sp>
        <p:nvSpPr>
          <p:cNvPr id="18" name="card-87"/>
          <p:cNvSpPr/>
          <p:nvPr/>
        </p:nvSpPr>
        <p:spPr>
          <a:xfrm>
            <a:off x="6217920" y="3840480"/>
            <a:ext cx="5349240" cy="1920240"/>
          </a:xfrm>
          <a:prstGeom prst="roundRect">
            <a:avLst>
              <a:gd name="adj" fmla="val 381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9" name="dot-88"/>
          <p:cNvSpPr/>
          <p:nvPr/>
        </p:nvSpPr>
        <p:spPr>
          <a:xfrm>
            <a:off x="6492240" y="4096512"/>
            <a:ext cx="420624" cy="420624"/>
          </a:xfrm>
          <a:prstGeom prst="ellipse">
            <a:avLst/>
          </a:prstGeom>
          <a:solidFill>
            <a:schemeClr val="accent2"/>
          </a:solidFill>
          <a:ln w="12700">
            <a:solidFill>
              <a:schemeClr val="accent2"/>
            </a:solidFill>
            <a:prstDash val="solid"/>
          </a:ln>
        </p:spPr>
      </p:sp>
      <p:sp>
        <p:nvSpPr>
          <p:cNvPr id="20" name="dotnum-89"/>
          <p:cNvSpPr txBox="1"/>
          <p:nvPr/>
        </p:nvSpPr>
        <p:spPr>
          <a:xfrm>
            <a:off x="6492240" y="409651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cardhead-90"/>
          <p:cNvSpPr txBox="1"/>
          <p:nvPr/>
        </p:nvSpPr>
        <p:spPr>
          <a:xfrm>
            <a:off x="7059168" y="4078224"/>
            <a:ext cx="4206240" cy="457200"/>
          </a:xfrm>
          <a:prstGeom prst="rect">
            <a:avLst/>
          </a:prstGeom>
          <a:noFill/>
          <a:ln/>
        </p:spPr>
        <p:txBody>
          <a:bodyPr wrap="square" lIns="0" tIns="0" rIns="0" bIns="0" rtlCol="0" anchor="ctr"/>
          <a:lstStyle/>
          <a:p>
            <a:pPr indent="0" marL="0">
              <a:buNone/>
            </a:pPr>
            <a:r>
              <a:rPr lang="en-US" sz="1700" b="1" dirty="0">
                <a:solidFill>
                  <a:schemeClr val="tx1"/>
                </a:solidFill>
              </a:rPr>
              <a:t>List the archive before you run</a:t>
            </a:r>
            <a:endParaRPr lang="en-US" sz="1700" dirty="0"/>
          </a:p>
        </p:txBody>
      </p:sp>
      <p:sp>
        <p:nvSpPr>
          <p:cNvPr id="22" name="cardbody-91"/>
          <p:cNvSpPr txBox="1"/>
          <p:nvPr/>
        </p:nvSpPr>
        <p:spPr>
          <a:xfrm>
            <a:off x="7059168" y="4535424"/>
            <a:ext cx="4206240" cy="1005840"/>
          </a:xfrm>
          <a:prstGeom prst="rect">
            <a:avLst/>
          </a:prstGeom>
          <a:noFill/>
          <a:ln/>
        </p:spPr>
        <p:txBody>
          <a:bodyPr wrap="square" lIns="0" tIns="0" rIns="0" bIns="0" rtlCol="0" anchor="t"/>
          <a:lstStyle/>
          <a:p>
            <a:pPr indent="0" marL="0">
              <a:buNone/>
            </a:pPr>
            <a:r>
              <a:rPr lang="en-US" sz="1350" dirty="0">
                <a:solidFill>
                  <a:schemeClr val="tx1"/>
                </a:solidFill>
              </a:rPr>
              <a:t>The cheapest experiment is the one you already ran. Checking costs one API call and has twice now returned a result I was about to pay to recompute.</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And what each one costs</a:t>
            </a:r>
            <a:endParaRPr lang="en-US" sz="3200" dirty="0"/>
          </a:p>
        </p:txBody>
      </p:sp>
      <p:sp>
        <p:nvSpPr>
          <p:cNvPr id="3" name="card-92"/>
          <p:cNvSpPr/>
          <p:nvPr/>
        </p:nvSpPr>
        <p:spPr>
          <a:xfrm>
            <a:off x="594360" y="1691640"/>
            <a:ext cx="3502152"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tchead-93"/>
          <p:cNvSpPr txBox="1"/>
          <p:nvPr/>
        </p:nvSpPr>
        <p:spPr>
          <a:xfrm>
            <a:off x="905256" y="1911096"/>
            <a:ext cx="2880360" cy="512064"/>
          </a:xfrm>
          <a:prstGeom prst="rect">
            <a:avLst/>
          </a:prstGeom>
          <a:noFill/>
          <a:ln/>
        </p:spPr>
        <p:txBody>
          <a:bodyPr wrap="square" lIns="0" tIns="0" rIns="0" bIns="0" rtlCol="0" anchor="t"/>
          <a:lstStyle/>
          <a:p>
            <a:pPr indent="0" marL="0">
              <a:buNone/>
            </a:pPr>
            <a:r>
              <a:rPr lang="en-US" sz="1700" b="1" dirty="0">
                <a:solidFill>
                  <a:schemeClr val="accent6"/>
                </a:solidFill>
              </a:rPr>
              <a:t>A runner, or one off scripts</a:t>
            </a:r>
            <a:endParaRPr lang="en-US" sz="1700" dirty="0"/>
          </a:p>
        </p:txBody>
      </p:sp>
      <p:sp>
        <p:nvSpPr>
          <p:cNvPr id="5" name="tcbody-94"/>
          <p:cNvSpPr txBox="1"/>
          <p:nvPr/>
        </p:nvSpPr>
        <p:spPr>
          <a:xfrm>
            <a:off x="905256" y="2478024"/>
            <a:ext cx="2880360" cy="2404872"/>
          </a:xfrm>
          <a:prstGeom prst="rect">
            <a:avLst/>
          </a:prstGeom>
          <a:noFill/>
          <a:ln/>
        </p:spPr>
        <p:txBody>
          <a:bodyPr wrap="square" lIns="0" tIns="0" rIns="0" bIns="0" rtlCol="0" anchor="t"/>
          <a:lstStyle/>
          <a:p>
            <a:pPr indent="0" marL="0">
              <a:buNone/>
            </a:pPr>
            <a:r>
              <a:rPr lang="en-US" sz="1350" dirty="0">
                <a:solidFill>
                  <a:schemeClr val="tx1"/>
                </a:solidFill>
              </a:rPr>
              <a:t>I built a generic runner that passes paths through environment variables. It made the scripts portable across four hosts with no edits.</a:t>
            </a:r>
            <a:endParaRPr lang="en-US" sz="1350" dirty="0"/>
          </a:p>
          <a:p>
            <a:pPr indent="0" marL="0">
              <a:buNone/>
            </a:pPr>
            <a:endParaRPr lang="en-US" sz="1350" dirty="0"/>
          </a:p>
          <a:p>
            <a:pPr indent="0" marL="0">
              <a:buNone/>
            </a:pPr>
            <a:r>
              <a:rPr lang="en-US" sz="1350" dirty="0">
                <a:solidFill>
                  <a:schemeClr val="tx1"/>
                </a:solidFill>
              </a:rPr>
              <a:t>The cost is a subprocess boundary that hides real errors, and two of the failures in this talk were harder to diagnose because of it.</a:t>
            </a:r>
            <a:endParaRPr lang="en-US" sz="1350" dirty="0"/>
          </a:p>
        </p:txBody>
      </p:sp>
      <p:sp>
        <p:nvSpPr>
          <p:cNvPr id="6" name="card-95"/>
          <p:cNvSpPr/>
          <p:nvPr/>
        </p:nvSpPr>
        <p:spPr>
          <a:xfrm>
            <a:off x="4325112" y="1691640"/>
            <a:ext cx="3502152"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tchead-96"/>
          <p:cNvSpPr txBox="1"/>
          <p:nvPr/>
        </p:nvSpPr>
        <p:spPr>
          <a:xfrm>
            <a:off x="4636008" y="1911096"/>
            <a:ext cx="2880360" cy="512064"/>
          </a:xfrm>
          <a:prstGeom prst="rect">
            <a:avLst/>
          </a:prstGeom>
          <a:noFill/>
          <a:ln/>
        </p:spPr>
        <p:txBody>
          <a:bodyPr wrap="square" lIns="0" tIns="0" rIns="0" bIns="0" rtlCol="0" anchor="t"/>
          <a:lstStyle/>
          <a:p>
            <a:pPr indent="0" marL="0">
              <a:buNone/>
            </a:pPr>
            <a:r>
              <a:rPr lang="en-US" sz="1700" b="1" dirty="0">
                <a:solidFill>
                  <a:schemeClr val="accent6"/>
                </a:solidFill>
              </a:rPr>
              <a:t>Checkpoint often, or run fast</a:t>
            </a:r>
            <a:endParaRPr lang="en-US" sz="1700" dirty="0"/>
          </a:p>
        </p:txBody>
      </p:sp>
      <p:sp>
        <p:nvSpPr>
          <p:cNvPr id="8" name="tcbody-97"/>
          <p:cNvSpPr txBox="1"/>
          <p:nvPr/>
        </p:nvSpPr>
        <p:spPr>
          <a:xfrm>
            <a:off x="4636008" y="2478024"/>
            <a:ext cx="2880360" cy="2404872"/>
          </a:xfrm>
          <a:prstGeom prst="rect">
            <a:avLst/>
          </a:prstGeom>
          <a:noFill/>
          <a:ln/>
        </p:spPr>
        <p:txBody>
          <a:bodyPr wrap="square" lIns="0" tIns="0" rIns="0" bIns="0" rtlCol="0" anchor="t"/>
          <a:lstStyle/>
          <a:p>
            <a:pPr indent="0" marL="0">
              <a:buNone/>
            </a:pPr>
            <a:r>
              <a:rPr lang="en-US" sz="1350" dirty="0">
                <a:solidFill>
                  <a:schemeClr val="tx1"/>
                </a:solidFill>
              </a:rPr>
              <a:t>Frequent checkpointing costs throughput on every single run, forever.</a:t>
            </a:r>
            <a:endParaRPr lang="en-US" sz="1350" dirty="0"/>
          </a:p>
          <a:p>
            <a:pPr indent="0" marL="0">
              <a:buNone/>
            </a:pPr>
            <a:endParaRPr lang="en-US" sz="1350" dirty="0"/>
          </a:p>
          <a:p>
            <a:pPr indent="0" marL="0">
              <a:buNone/>
            </a:pPr>
            <a:r>
              <a:rPr lang="en-US" sz="1350" dirty="0">
                <a:solidFill>
                  <a:schemeClr val="tx1"/>
                </a:solidFill>
              </a:rPr>
              <a:t>It has also saved every run that was interrupted, which by now is most of them. I stopped treating this as a tuning parameter.</a:t>
            </a:r>
            <a:endParaRPr lang="en-US" sz="1350" dirty="0"/>
          </a:p>
        </p:txBody>
      </p:sp>
      <p:sp>
        <p:nvSpPr>
          <p:cNvPr id="9" name="card-98"/>
          <p:cNvSpPr/>
          <p:nvPr/>
        </p:nvSpPr>
        <p:spPr>
          <a:xfrm>
            <a:off x="8065008" y="1691640"/>
            <a:ext cx="3502152"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tchead-99"/>
          <p:cNvSpPr txBox="1"/>
          <p:nvPr/>
        </p:nvSpPr>
        <p:spPr>
          <a:xfrm>
            <a:off x="8375904" y="1911096"/>
            <a:ext cx="2880360" cy="512064"/>
          </a:xfrm>
          <a:prstGeom prst="rect">
            <a:avLst/>
          </a:prstGeom>
          <a:noFill/>
          <a:ln/>
        </p:spPr>
        <p:txBody>
          <a:bodyPr wrap="square" lIns="0" tIns="0" rIns="0" bIns="0" rtlCol="0" anchor="t"/>
          <a:lstStyle/>
          <a:p>
            <a:pPr indent="0" marL="0">
              <a:buNone/>
            </a:pPr>
            <a:r>
              <a:rPr lang="en-US" sz="1700" b="1" dirty="0">
                <a:solidFill>
                  <a:schemeClr val="accent6"/>
                </a:solidFill>
              </a:rPr>
              <a:t>Fix the script, or fix the runner</a:t>
            </a:r>
            <a:endParaRPr lang="en-US" sz="1700" dirty="0"/>
          </a:p>
        </p:txBody>
      </p:sp>
      <p:sp>
        <p:nvSpPr>
          <p:cNvPr id="11" name="tcbody-100"/>
          <p:cNvSpPr txBox="1"/>
          <p:nvPr/>
        </p:nvSpPr>
        <p:spPr>
          <a:xfrm>
            <a:off x="8375904" y="2478024"/>
            <a:ext cx="2880360" cy="2404872"/>
          </a:xfrm>
          <a:prstGeom prst="rect">
            <a:avLst/>
          </a:prstGeom>
          <a:noFill/>
          <a:ln/>
        </p:spPr>
        <p:txBody>
          <a:bodyPr wrap="square" lIns="0" tIns="0" rIns="0" bIns="0" rtlCol="0" anchor="t"/>
          <a:lstStyle/>
          <a:p>
            <a:pPr indent="0" marL="0">
              <a:buNone/>
            </a:pPr>
            <a:r>
              <a:rPr lang="en-US" sz="1350" dirty="0">
                <a:solidFill>
                  <a:schemeClr val="tx1"/>
                </a:solidFill>
              </a:rPr>
              <a:t>Several failures came from scripts making assumptions about their own working directory.</a:t>
            </a:r>
            <a:endParaRPr lang="en-US" sz="1350" dirty="0"/>
          </a:p>
          <a:p>
            <a:pPr indent="0" marL="0">
              <a:buNone/>
            </a:pPr>
            <a:endParaRPr lang="en-US" sz="1350" dirty="0"/>
          </a:p>
          <a:p>
            <a:pPr indent="0" marL="0">
              <a:buNone/>
            </a:pPr>
            <a:r>
              <a:rPr lang="en-US" sz="1350" dirty="0">
                <a:solidFill>
                  <a:schemeClr val="tx1"/>
                </a:solidFill>
              </a:rPr>
              <a:t>I fixed them at the runner level rather than editing scripts with an archived result history, knowingly leaving the root cause in place to keep old results comparable.</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94360" y="2286000"/>
            <a:ext cx="2743200" cy="914400"/>
          </a:xfrm>
          <a:prstGeom prst="rect">
            <a:avLst/>
          </a:prstGeom>
          <a:noFill/>
          <a:ln/>
        </p:spPr>
        <p:txBody>
          <a:bodyPr wrap="square" rtlCol="0" anchor="b"/>
          <a:lstStyle/>
          <a:p>
            <a:pPr algn="l" indent="0" marL="0">
              <a:buNone/>
            </a:pPr>
            <a:r>
              <a:rPr lang="en-US" sz="6400" b="1" dirty="0">
                <a:solidFill>
                  <a:srgbClr val="E8633A"/>
                </a:solidFill>
              </a:rPr>
              <a:t>04</a:t>
            </a:r>
            <a:endParaRPr lang="en-US" sz="6400" dirty="0"/>
          </a:p>
        </p:txBody>
      </p:sp>
      <p:sp>
        <p:nvSpPr>
          <p:cNvPr id="3" name="Text 0"/>
          <p:cNvSpPr/>
          <p:nvPr>
            <p:ph idx="101" type="title" hasCustomPrompt="1"/>
          </p:nvPr>
        </p:nvSpPr>
        <p:spPr>
          <a:xfrm>
            <a:off x="594360" y="3291840"/>
            <a:ext cx="10972800" cy="1097280"/>
          </a:xfrm>
          <a:prstGeom prst="rect">
            <a:avLst/>
          </a:prstGeom>
          <a:noFill/>
          <a:ln/>
        </p:spPr>
        <p:txBody>
          <a:bodyPr wrap="square" rtlCol="0" anchor="t"/>
          <a:lstStyle/>
          <a:p>
            <a:pPr algn="l" indent="0" marL="0">
              <a:buNone/>
            </a:pPr>
            <a:r>
              <a:rPr lang="en-US" sz="3800" b="1" dirty="0">
                <a:solidFill>
                  <a:schemeClr val="bg1"/>
                </a:solidFill>
              </a:rPr>
              <a:t>The failure with no stack trace</a:t>
            </a:r>
            <a:endParaRPr lang="en-US" sz="3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The decision my whole project turns on</a:t>
            </a:r>
            <a:endParaRPr lang="en-US" sz="3200" dirty="0"/>
          </a:p>
        </p:txBody>
      </p:sp>
      <p:sp>
        <p:nvSpPr>
          <p:cNvPr id="3" name="qdef-101"/>
          <p:cNvSpPr txBox="1"/>
          <p:nvPr/>
        </p:nvSpPr>
        <p:spPr>
          <a:xfrm>
            <a:off x="594360" y="1572768"/>
            <a:ext cx="10972800" cy="502920"/>
          </a:xfrm>
          <a:prstGeom prst="rect">
            <a:avLst/>
          </a:prstGeom>
          <a:noFill/>
          <a:ln/>
        </p:spPr>
        <p:txBody>
          <a:bodyPr wrap="square" lIns="0" tIns="0" rIns="0" bIns="0" rtlCol="0" anchor="ctr"/>
          <a:lstStyle/>
          <a:p>
            <a:pPr indent="0" marL="0">
              <a:buNone/>
            </a:pPr>
            <a:r>
              <a:rPr lang="en-US" sz="1700" dirty="0">
                <a:solidFill>
                  <a:srgbClr val="8A93A6"/>
                </a:solidFill>
              </a:rPr>
              <a:t>Quantisation: storing every number in the model with fewer digits so it runs on cheaper hardware.</a:t>
            </a:r>
            <a:endParaRPr lang="en-US" sz="1700" dirty="0"/>
          </a:p>
        </p:txBody>
      </p:sp>
      <p:sp>
        <p:nvSpPr>
          <p:cNvPr id="4" name="card-102"/>
          <p:cNvSpPr/>
          <p:nvPr/>
        </p:nvSpPr>
        <p:spPr>
          <a:xfrm>
            <a:off x="594360" y="2286000"/>
            <a:ext cx="2569464"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5" name="tchead-103"/>
          <p:cNvSpPr txBox="1"/>
          <p:nvPr/>
        </p:nvSpPr>
        <p:spPr>
          <a:xfrm>
            <a:off x="905256" y="2505456"/>
            <a:ext cx="1947672" cy="512064"/>
          </a:xfrm>
          <a:prstGeom prst="rect">
            <a:avLst/>
          </a:prstGeom>
          <a:noFill/>
          <a:ln/>
        </p:spPr>
        <p:txBody>
          <a:bodyPr wrap="square" lIns="0" tIns="0" rIns="0" bIns="0" rtlCol="0" anchor="t"/>
          <a:lstStyle/>
          <a:p>
            <a:pPr indent="0" marL="0">
              <a:buNone/>
            </a:pPr>
            <a:r>
              <a:rPr lang="en-US" sz="1700" b="1" dirty="0">
                <a:solidFill>
                  <a:schemeClr val="accent1"/>
                </a:solidFill>
              </a:rPr>
              <a:t>A cost decision</a:t>
            </a:r>
            <a:endParaRPr lang="en-US" sz="1700" dirty="0"/>
          </a:p>
        </p:txBody>
      </p:sp>
      <p:sp>
        <p:nvSpPr>
          <p:cNvPr id="6" name="tcbody-104"/>
          <p:cNvSpPr txBox="1"/>
          <p:nvPr/>
        </p:nvSpPr>
        <p:spPr>
          <a:xfrm>
            <a:off x="905256" y="3072384"/>
            <a:ext cx="1947672" cy="804672"/>
          </a:xfrm>
          <a:prstGeom prst="rect">
            <a:avLst/>
          </a:prstGeom>
          <a:noFill/>
          <a:ln/>
        </p:spPr>
        <p:txBody>
          <a:bodyPr wrap="square" lIns="0" tIns="0" rIns="0" bIns="0" rtlCol="0" anchor="t"/>
          <a:lstStyle/>
          <a:p>
            <a:pPr indent="0" marL="0">
              <a:buNone/>
            </a:pPr>
            <a:r>
              <a:rPr lang="en-US" sz="1350" dirty="0">
                <a:solidFill>
                  <a:schemeClr val="tx1"/>
                </a:solidFill>
              </a:rPr>
              <a:t>Memory, throughput, the hardware you have to buy.</a:t>
            </a:r>
            <a:endParaRPr lang="en-US" sz="1350" dirty="0"/>
          </a:p>
        </p:txBody>
      </p:sp>
      <p:sp>
        <p:nvSpPr>
          <p:cNvPr id="7" name="card-105"/>
          <p:cNvSpPr/>
          <p:nvPr/>
        </p:nvSpPr>
        <p:spPr>
          <a:xfrm>
            <a:off x="3394710" y="2286000"/>
            <a:ext cx="2569464"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8" name="tchead-106"/>
          <p:cNvSpPr txBox="1"/>
          <p:nvPr/>
        </p:nvSpPr>
        <p:spPr>
          <a:xfrm>
            <a:off x="3705606" y="2505456"/>
            <a:ext cx="1947672" cy="512064"/>
          </a:xfrm>
          <a:prstGeom prst="rect">
            <a:avLst/>
          </a:prstGeom>
          <a:noFill/>
          <a:ln/>
        </p:spPr>
        <p:txBody>
          <a:bodyPr wrap="square" lIns="0" tIns="0" rIns="0" bIns="0" rtlCol="0" anchor="t"/>
          <a:lstStyle/>
          <a:p>
            <a:pPr indent="0" marL="0">
              <a:buNone/>
            </a:pPr>
            <a:r>
              <a:rPr lang="en-US" sz="1700" b="1" dirty="0">
                <a:solidFill>
                  <a:schemeClr val="accent1"/>
                </a:solidFill>
              </a:rPr>
              <a:t>A platform decision</a:t>
            </a:r>
            <a:endParaRPr lang="en-US" sz="1700" dirty="0"/>
          </a:p>
        </p:txBody>
      </p:sp>
      <p:sp>
        <p:nvSpPr>
          <p:cNvPr id="9" name="tcbody-107"/>
          <p:cNvSpPr txBox="1"/>
          <p:nvPr/>
        </p:nvSpPr>
        <p:spPr>
          <a:xfrm>
            <a:off x="3705606" y="3072384"/>
            <a:ext cx="1947672" cy="804672"/>
          </a:xfrm>
          <a:prstGeom prst="rect">
            <a:avLst/>
          </a:prstGeom>
          <a:noFill/>
          <a:ln/>
        </p:spPr>
        <p:txBody>
          <a:bodyPr wrap="square" lIns="0" tIns="0" rIns="0" bIns="0" rtlCol="0" anchor="t"/>
          <a:lstStyle/>
          <a:p>
            <a:pPr indent="0" marL="0">
              <a:buNone/>
            </a:pPr>
            <a:r>
              <a:rPr lang="en-US" sz="1350" dirty="0">
                <a:solidFill>
                  <a:schemeClr val="tx1"/>
                </a:solidFill>
              </a:rPr>
              <a:t>The serving stack has to expose it, and own the rollback.</a:t>
            </a:r>
            <a:endParaRPr lang="en-US" sz="1350" dirty="0"/>
          </a:p>
        </p:txBody>
      </p:sp>
      <p:sp>
        <p:nvSpPr>
          <p:cNvPr id="10" name="card-108"/>
          <p:cNvSpPr/>
          <p:nvPr/>
        </p:nvSpPr>
        <p:spPr>
          <a:xfrm>
            <a:off x="6195060" y="2286000"/>
            <a:ext cx="2569464"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1" name="tchead-109"/>
          <p:cNvSpPr txBox="1"/>
          <p:nvPr/>
        </p:nvSpPr>
        <p:spPr>
          <a:xfrm>
            <a:off x="6505956" y="2505456"/>
            <a:ext cx="1947672" cy="512064"/>
          </a:xfrm>
          <a:prstGeom prst="rect">
            <a:avLst/>
          </a:prstGeom>
          <a:noFill/>
          <a:ln/>
        </p:spPr>
        <p:txBody>
          <a:bodyPr wrap="square" lIns="0" tIns="0" rIns="0" bIns="0" rtlCol="0" anchor="t"/>
          <a:lstStyle/>
          <a:p>
            <a:pPr indent="0" marL="0">
              <a:buNone/>
            </a:pPr>
            <a:r>
              <a:rPr lang="en-US" sz="1700" b="1" dirty="0">
                <a:solidFill>
                  <a:schemeClr val="accent1"/>
                </a:solidFill>
              </a:rPr>
              <a:t>A quality decision</a:t>
            </a:r>
            <a:endParaRPr lang="en-US" sz="1700" dirty="0"/>
          </a:p>
        </p:txBody>
      </p:sp>
      <p:sp>
        <p:nvSpPr>
          <p:cNvPr id="12" name="tcbody-110"/>
          <p:cNvSpPr txBox="1"/>
          <p:nvPr/>
        </p:nvSpPr>
        <p:spPr>
          <a:xfrm>
            <a:off x="6505956" y="3072384"/>
            <a:ext cx="1947672" cy="804672"/>
          </a:xfrm>
          <a:prstGeom prst="rect">
            <a:avLst/>
          </a:prstGeom>
          <a:noFill/>
          <a:ln/>
        </p:spPr>
        <p:txBody>
          <a:bodyPr wrap="square" lIns="0" tIns="0" rIns="0" bIns="0" rtlCol="0" anchor="t"/>
          <a:lstStyle/>
          <a:p>
            <a:pPr indent="0" marL="0">
              <a:buNone/>
            </a:pPr>
            <a:r>
              <a:rPr lang="en-US" sz="1350" dirty="0">
                <a:solidFill>
                  <a:schemeClr val="tx1"/>
                </a:solidFill>
              </a:rPr>
              <a:t>The served model changes numerically, with no version bump.</a:t>
            </a:r>
            <a:endParaRPr lang="en-US" sz="1350" dirty="0"/>
          </a:p>
        </p:txBody>
      </p:sp>
      <p:sp>
        <p:nvSpPr>
          <p:cNvPr id="13" name="card-111"/>
          <p:cNvSpPr/>
          <p:nvPr/>
        </p:nvSpPr>
        <p:spPr>
          <a:xfrm>
            <a:off x="8995410" y="2286000"/>
            <a:ext cx="2569464"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4" name="tchead-112"/>
          <p:cNvSpPr txBox="1"/>
          <p:nvPr/>
        </p:nvSpPr>
        <p:spPr>
          <a:xfrm>
            <a:off x="9306306" y="2505456"/>
            <a:ext cx="1947672" cy="512064"/>
          </a:xfrm>
          <a:prstGeom prst="rect">
            <a:avLst/>
          </a:prstGeom>
          <a:noFill/>
          <a:ln/>
        </p:spPr>
        <p:txBody>
          <a:bodyPr wrap="square" lIns="0" tIns="0" rIns="0" bIns="0" rtlCol="0" anchor="t"/>
          <a:lstStyle/>
          <a:p>
            <a:pPr indent="0" marL="0">
              <a:buNone/>
            </a:pPr>
            <a:r>
              <a:rPr lang="en-US" sz="1700" b="1" dirty="0">
                <a:solidFill>
                  <a:schemeClr val="accent1"/>
                </a:solidFill>
              </a:rPr>
              <a:t>A hardware decision</a:t>
            </a:r>
            <a:endParaRPr lang="en-US" sz="1700" dirty="0"/>
          </a:p>
        </p:txBody>
      </p:sp>
      <p:sp>
        <p:nvSpPr>
          <p:cNvPr id="15" name="tcbody-113"/>
          <p:cNvSpPr txBox="1"/>
          <p:nvPr/>
        </p:nvSpPr>
        <p:spPr>
          <a:xfrm>
            <a:off x="9306306" y="3072384"/>
            <a:ext cx="1947672" cy="804672"/>
          </a:xfrm>
          <a:prstGeom prst="rect">
            <a:avLst/>
          </a:prstGeom>
          <a:noFill/>
          <a:ln/>
        </p:spPr>
        <p:txBody>
          <a:bodyPr wrap="square" lIns="0" tIns="0" rIns="0" bIns="0" rtlCol="0" anchor="t"/>
          <a:lstStyle/>
          <a:p>
            <a:pPr indent="0" marL="0">
              <a:buNone/>
            </a:pPr>
            <a:r>
              <a:rPr lang="en-US" sz="1350" dirty="0">
                <a:solidFill>
                  <a:schemeClr val="tx1"/>
                </a:solidFill>
              </a:rPr>
              <a:t>Weights and activations want different widths. Silicon has to agree.</a:t>
            </a:r>
            <a:endParaRPr lang="en-US" sz="1350" dirty="0"/>
          </a:p>
        </p:txBody>
      </p:sp>
      <p:sp>
        <p:nvSpPr>
          <p:cNvPr id="16" name="card-114"/>
          <p:cNvSpPr/>
          <p:nvPr/>
        </p:nvSpPr>
        <p:spPr>
          <a:xfrm>
            <a:off x="594360" y="4389120"/>
            <a:ext cx="10972800" cy="1371600"/>
          </a:xfrm>
          <a:prstGeom prst="roundRect">
            <a:avLst>
              <a:gd name="adj" fmla="val 5333"/>
            </a:avLst>
          </a:prstGeom>
          <a:solidFill>
            <a:schemeClr val="tx2"/>
          </a:solidFill>
          <a:ln w="12700">
            <a:solidFill>
              <a:schemeClr val="tx2"/>
            </a:solidFill>
            <a:prstDash val="solid"/>
          </a:ln>
        </p:spPr>
      </p:sp>
      <p:sp>
        <p:nvSpPr>
          <p:cNvPr id="17" name="q2-115"/>
          <p:cNvSpPr txBox="1"/>
          <p:nvPr/>
        </p:nvSpPr>
        <p:spPr>
          <a:xfrm>
            <a:off x="1005840" y="4590288"/>
            <a:ext cx="10149840" cy="457200"/>
          </a:xfrm>
          <a:prstGeom prst="rect">
            <a:avLst/>
          </a:prstGeom>
          <a:noFill/>
          <a:ln/>
        </p:spPr>
        <p:txBody>
          <a:bodyPr wrap="square" lIns="0" tIns="0" rIns="0" bIns="0" rtlCol="0" anchor="ctr"/>
          <a:lstStyle/>
          <a:p>
            <a:pPr indent="0" marL="0">
              <a:buNone/>
            </a:pPr>
            <a:r>
              <a:rPr lang="en-US" sz="2200" b="1" dirty="0">
                <a:solidFill>
                  <a:schemeClr val="bg1"/>
                </a:solidFill>
              </a:rPr>
              <a:t>In most organisations, nobody owns all four.</a:t>
            </a:r>
            <a:endParaRPr lang="en-US" sz="2200" dirty="0"/>
          </a:p>
        </p:txBody>
      </p:sp>
      <p:sp>
        <p:nvSpPr>
          <p:cNvPr id="18" name="q2s-116"/>
          <p:cNvSpPr txBox="1"/>
          <p:nvPr/>
        </p:nvSpPr>
        <p:spPr>
          <a:xfrm>
            <a:off x="1005840" y="5047488"/>
            <a:ext cx="10149840" cy="548640"/>
          </a:xfrm>
          <a:prstGeom prst="rect">
            <a:avLst/>
          </a:prstGeom>
          <a:noFill/>
          <a:ln/>
        </p:spPr>
        <p:txBody>
          <a:bodyPr wrap="square" lIns="0" tIns="0" rIns="0" bIns="0" rtlCol="0" anchor="ctr"/>
          <a:lstStyle/>
          <a:p>
            <a:pPr indent="0" marL="0">
              <a:buNone/>
            </a:pPr>
            <a:r>
              <a:rPr lang="en-US" sz="1400" dirty="0">
                <a:solidFill>
                  <a:srgbClr val="8A93A6"/>
                </a:solidFill>
              </a:rPr>
              <a:t>So it either never happens, or it happens without a validation story. Same failure mode as the result that sat in an archive nobody owned.</a:t>
            </a:r>
            <a:endParaRPr lang="en-US" sz="14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What the evidence actually looks like</a:t>
            </a:r>
            <a:endParaRPr lang="en-US" sz="3200" dirty="0"/>
          </a:p>
        </p:txBody>
      </p:sp>
      <p:graphicFrame>
        <p:nvGraphicFramePr>
          <p:cNvPr id="3" name="Chart 0" descr=""/>
          <p:cNvGraphicFramePr/>
          <p:nvPr>
            <p:ph idx="101" type="chart" hasCustomPrompt="1"/>
          </p:nvPr>
        </p:nvGraphicFramePr>
        <p:xfrm>
          <a:off x="594360" y="150876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4" name="card-117"/>
          <p:cNvSpPr/>
          <p:nvPr/>
        </p:nvSpPr>
        <p:spPr>
          <a:xfrm>
            <a:off x="8321040" y="1737360"/>
            <a:ext cx="3246120" cy="201168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5" name="tchead-118"/>
          <p:cNvSpPr txBox="1"/>
          <p:nvPr/>
        </p:nvSpPr>
        <p:spPr>
          <a:xfrm>
            <a:off x="8631936" y="1956816"/>
            <a:ext cx="2624328" cy="512064"/>
          </a:xfrm>
          <a:prstGeom prst="rect">
            <a:avLst/>
          </a:prstGeom>
          <a:noFill/>
          <a:ln/>
        </p:spPr>
        <p:txBody>
          <a:bodyPr wrap="square" lIns="0" tIns="0" rIns="0" bIns="0" rtlCol="0" anchor="t"/>
          <a:lstStyle/>
          <a:p>
            <a:pPr indent="0" marL="0">
              <a:buNone/>
            </a:pPr>
            <a:r>
              <a:rPr lang="en-US" sz="1700" b="1" dirty="0">
                <a:solidFill>
                  <a:schemeClr val="accent2"/>
                </a:solidFill>
              </a:rPr>
              <a:t>Eight bits is free</a:t>
            </a:r>
            <a:endParaRPr lang="en-US" sz="1700" dirty="0"/>
          </a:p>
        </p:txBody>
      </p:sp>
      <p:sp>
        <p:nvSpPr>
          <p:cNvPr id="6" name="tcbody-119"/>
          <p:cNvSpPr txBox="1"/>
          <p:nvPr/>
        </p:nvSpPr>
        <p:spPr>
          <a:xfrm>
            <a:off x="8631936" y="2523744"/>
            <a:ext cx="2624328" cy="987552"/>
          </a:xfrm>
          <a:prstGeom prst="rect">
            <a:avLst/>
          </a:prstGeom>
          <a:noFill/>
          <a:ln/>
        </p:spPr>
        <p:txBody>
          <a:bodyPr wrap="square" lIns="0" tIns="0" rIns="0" bIns="0" rtlCol="0" anchor="t"/>
          <a:lstStyle/>
          <a:p>
            <a:pPr indent="0" marL="0">
              <a:buNone/>
            </a:pPr>
            <a:r>
              <a:rPr lang="en-US" sz="1350" dirty="0">
                <a:solidFill>
                  <a:schemeClr val="tx1"/>
                </a:solidFill>
              </a:rPr>
              <a:t>Function calling accuracy holds within about a point of the original at every size, with no retraining and no calibration set.</a:t>
            </a:r>
            <a:endParaRPr lang="en-US" sz="1350" dirty="0"/>
          </a:p>
        </p:txBody>
      </p:sp>
      <p:sp>
        <p:nvSpPr>
          <p:cNvPr id="7" name="card-120"/>
          <p:cNvSpPr/>
          <p:nvPr/>
        </p:nvSpPr>
        <p:spPr>
          <a:xfrm>
            <a:off x="8321040" y="3931920"/>
            <a:ext cx="3246120" cy="1600200"/>
          </a:xfrm>
          <a:prstGeom prst="roundRect">
            <a:avLst>
              <a:gd name="adj" fmla="val 457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8" name="tchead-121"/>
          <p:cNvSpPr txBox="1"/>
          <p:nvPr/>
        </p:nvSpPr>
        <p:spPr>
          <a:xfrm>
            <a:off x="8631936" y="4151376"/>
            <a:ext cx="2624328" cy="512064"/>
          </a:xfrm>
          <a:prstGeom prst="rect">
            <a:avLst/>
          </a:prstGeom>
          <a:noFill/>
          <a:ln/>
        </p:spPr>
        <p:txBody>
          <a:bodyPr wrap="square" lIns="0" tIns="0" rIns="0" bIns="0" rtlCol="0" anchor="t"/>
          <a:lstStyle/>
          <a:p>
            <a:pPr indent="0" marL="0">
              <a:buNone/>
            </a:pPr>
            <a:r>
              <a:rPr lang="en-US" sz="1700" b="1" dirty="0">
                <a:solidFill>
                  <a:schemeClr val="accent5"/>
                </a:solidFill>
              </a:rPr>
              <a:t>Six bits is not one answer</a:t>
            </a:r>
            <a:endParaRPr lang="en-US" sz="1700" dirty="0"/>
          </a:p>
        </p:txBody>
      </p:sp>
      <p:sp>
        <p:nvSpPr>
          <p:cNvPr id="9" name="tcbody-122"/>
          <p:cNvSpPr txBox="1"/>
          <p:nvPr/>
        </p:nvSpPr>
        <p:spPr>
          <a:xfrm>
            <a:off x="8631936" y="4718304"/>
            <a:ext cx="2624328" cy="576072"/>
          </a:xfrm>
          <a:prstGeom prst="rect">
            <a:avLst/>
          </a:prstGeom>
          <a:noFill/>
          <a:ln/>
        </p:spPr>
        <p:txBody>
          <a:bodyPr wrap="square" lIns="0" tIns="0" rIns="0" bIns="0" rtlCol="0" anchor="t"/>
          <a:lstStyle/>
          <a:p>
            <a:pPr indent="0" marL="0">
              <a:buNone/>
            </a:pPr>
            <a:r>
              <a:rPr lang="en-US" sz="1350" dirty="0">
                <a:solidFill>
                  <a:schemeClr val="tx1"/>
                </a:solidFill>
              </a:rPr>
              <a:t>Free at 8B. Fatal at 0.6B. One model would have produced confident, wrong guidance in either direction.</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Two failures that look like success</a:t>
            </a:r>
            <a:endParaRPr lang="en-US" sz="3200" dirty="0"/>
          </a:p>
        </p:txBody>
      </p:sp>
      <p:sp>
        <p:nvSpPr>
          <p:cNvPr id="3" name="card-123"/>
          <p:cNvSpPr/>
          <p:nvPr/>
        </p:nvSpPr>
        <p:spPr>
          <a:xfrm>
            <a:off x="594360" y="1691640"/>
            <a:ext cx="534924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tchead-124"/>
          <p:cNvSpPr txBox="1"/>
          <p:nvPr/>
        </p:nvSpPr>
        <p:spPr>
          <a:xfrm>
            <a:off x="905256" y="1911096"/>
            <a:ext cx="4727448" cy="512064"/>
          </a:xfrm>
          <a:prstGeom prst="rect">
            <a:avLst/>
          </a:prstGeom>
          <a:noFill/>
          <a:ln/>
        </p:spPr>
        <p:txBody>
          <a:bodyPr wrap="square" lIns="0" tIns="0" rIns="0" bIns="0" rtlCol="0" anchor="t"/>
          <a:lstStyle/>
          <a:p>
            <a:pPr indent="0" marL="0">
              <a:buNone/>
            </a:pPr>
            <a:r>
              <a:rPr lang="en-US" sz="1700" b="1" dirty="0">
                <a:solidFill>
                  <a:schemeClr val="accent5"/>
                </a:solidFill>
              </a:rPr>
              <a:t>It scored 100 percent because it stopped answering</a:t>
            </a:r>
            <a:endParaRPr lang="en-US" sz="1700" dirty="0"/>
          </a:p>
        </p:txBody>
      </p:sp>
      <p:sp>
        <p:nvSpPr>
          <p:cNvPr id="5" name="tcbody-125"/>
          <p:cNvSpPr txBox="1"/>
          <p:nvPr/>
        </p:nvSpPr>
        <p:spPr>
          <a:xfrm>
            <a:off x="905256" y="2478024"/>
            <a:ext cx="4727448" cy="1216152"/>
          </a:xfrm>
          <a:prstGeom prst="rect">
            <a:avLst/>
          </a:prstGeom>
          <a:noFill/>
          <a:ln/>
        </p:spPr>
        <p:txBody>
          <a:bodyPr wrap="square" lIns="0" tIns="0" rIns="0" bIns="0" rtlCol="0" anchor="t"/>
          <a:lstStyle/>
          <a:p>
            <a:pPr indent="0" marL="0">
              <a:buNone/>
            </a:pPr>
            <a:r>
              <a:rPr lang="en-US" sz="1350" dirty="0">
                <a:solidFill>
                  <a:schemeClr val="tx1"/>
                </a:solidFill>
              </a:rPr>
              <a:t>One benchmark category scores a model on correctly declining to call a tool. A model that had stopped calling tools entirely, on 98.8 percent of prompts, scored a perfect 100 there. Averaged across categories it would have been published at 28.7 percent: mediocre, not dead.</a:t>
            </a:r>
            <a:endParaRPr lang="en-US" sz="1350" dirty="0"/>
          </a:p>
        </p:txBody>
      </p:sp>
      <p:sp>
        <p:nvSpPr>
          <p:cNvPr id="6" name="card-126"/>
          <p:cNvSpPr/>
          <p:nvPr/>
        </p:nvSpPr>
        <p:spPr>
          <a:xfrm>
            <a:off x="6217920" y="1691640"/>
            <a:ext cx="5349240" cy="2240280"/>
          </a:xfrm>
          <a:prstGeom prst="roundRect">
            <a:avLst>
              <a:gd name="adj" fmla="val 3265"/>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7" name="tchead-127"/>
          <p:cNvSpPr txBox="1"/>
          <p:nvPr/>
        </p:nvSpPr>
        <p:spPr>
          <a:xfrm>
            <a:off x="6528816" y="1911096"/>
            <a:ext cx="4727448" cy="512064"/>
          </a:xfrm>
          <a:prstGeom prst="rect">
            <a:avLst/>
          </a:prstGeom>
          <a:noFill/>
          <a:ln/>
        </p:spPr>
        <p:txBody>
          <a:bodyPr wrap="square" lIns="0" tIns="0" rIns="0" bIns="0" rtlCol="0" anchor="t"/>
          <a:lstStyle/>
          <a:p>
            <a:pPr indent="0" marL="0">
              <a:buNone/>
            </a:pPr>
            <a:r>
              <a:rPr lang="en-US" sz="1700" b="1" dirty="0">
                <a:solidFill>
                  <a:schemeClr val="accent5"/>
                </a:solidFill>
              </a:rPr>
              <a:t>Broken at sixteen bits</a:t>
            </a:r>
            <a:endParaRPr lang="en-US" sz="1700" dirty="0"/>
          </a:p>
        </p:txBody>
      </p:sp>
      <p:sp>
        <p:nvSpPr>
          <p:cNvPr id="8" name="tcbody-128"/>
          <p:cNvSpPr txBox="1"/>
          <p:nvPr/>
        </p:nvSpPr>
        <p:spPr>
          <a:xfrm>
            <a:off x="6528816" y="2478024"/>
            <a:ext cx="4727448" cy="1216152"/>
          </a:xfrm>
          <a:prstGeom prst="rect">
            <a:avLst/>
          </a:prstGeom>
          <a:noFill/>
          <a:ln/>
        </p:spPr>
        <p:txBody>
          <a:bodyPr wrap="square" lIns="0" tIns="0" rIns="0" bIns="0" rtlCol="0" anchor="t"/>
          <a:lstStyle/>
          <a:p>
            <a:pPr indent="0" marL="0">
              <a:buNone/>
            </a:pPr>
            <a:r>
              <a:rPr lang="en-US" sz="1350" dirty="0">
                <a:solidFill>
                  <a:schemeClr val="tx1"/>
                </a:solidFill>
              </a:rPr>
              <a:t>Two projection matrices in each block are fed by no normalisation layer. Quantised without a scale, validation loss went from 2.53 to 7.73, at sixteen bits, where the grid step is three in a hundred thousand. A few hundred outlier weights, clipped.</a:t>
            </a:r>
            <a:endParaRPr lang="en-US" sz="1350" dirty="0"/>
          </a:p>
        </p:txBody>
      </p:sp>
      <p:sp>
        <p:nvSpPr>
          <p:cNvPr id="9" name="card-129"/>
          <p:cNvSpPr/>
          <p:nvPr/>
        </p:nvSpPr>
        <p:spPr>
          <a:xfrm>
            <a:off x="594360" y="4206240"/>
            <a:ext cx="10972800" cy="1463040"/>
          </a:xfrm>
          <a:prstGeom prst="roundRect">
            <a:avLst>
              <a:gd name="adj" fmla="val 5000"/>
            </a:avLst>
          </a:prstGeom>
          <a:solidFill>
            <a:schemeClr val="tx2"/>
          </a:solidFill>
          <a:ln w="12700">
            <a:solidFill>
              <a:schemeClr val="tx2"/>
            </a:solidFill>
            <a:prstDash val="solid"/>
          </a:ln>
        </p:spPr>
      </p:sp>
      <p:sp>
        <p:nvSpPr>
          <p:cNvPr id="10" name="q3-130"/>
          <p:cNvSpPr txBox="1"/>
          <p:nvPr/>
        </p:nvSpPr>
        <p:spPr>
          <a:xfrm>
            <a:off x="1005840" y="4407408"/>
            <a:ext cx="10149840" cy="457200"/>
          </a:xfrm>
          <a:prstGeom prst="rect">
            <a:avLst/>
          </a:prstGeom>
          <a:noFill/>
          <a:ln/>
        </p:spPr>
        <p:txBody>
          <a:bodyPr wrap="square" lIns="0" tIns="0" rIns="0" bIns="0" rtlCol="0" anchor="ctr"/>
          <a:lstStyle/>
          <a:p>
            <a:pPr indent="0" marL="0">
              <a:buNone/>
            </a:pPr>
            <a:r>
              <a:rPr lang="en-US" sz="2200" b="1" dirty="0">
                <a:solidFill>
                  <a:schemeClr val="bg1"/>
                </a:solidFill>
              </a:rPr>
              <a:t>Every capability metric needs a liveness metric beside it.</a:t>
            </a:r>
            <a:endParaRPr lang="en-US" sz="2200" dirty="0"/>
          </a:p>
        </p:txBody>
      </p:sp>
      <p:sp>
        <p:nvSpPr>
          <p:cNvPr id="11" name="q3s-131"/>
          <p:cNvSpPr txBox="1"/>
          <p:nvPr/>
        </p:nvSpPr>
        <p:spPr>
          <a:xfrm>
            <a:off x="1005840" y="4864608"/>
            <a:ext cx="10149840" cy="548640"/>
          </a:xfrm>
          <a:prstGeom prst="rect">
            <a:avLst/>
          </a:prstGeom>
          <a:noFill/>
          <a:ln/>
        </p:spPr>
        <p:txBody>
          <a:bodyPr wrap="square" lIns="0" tIns="0" rIns="0" bIns="0" rtlCol="0" anchor="ctr"/>
          <a:lstStyle/>
          <a:p>
            <a:pPr indent="0" marL="0">
              <a:buNone/>
            </a:pPr>
            <a:r>
              <a:rPr lang="en-US" sz="1400" dirty="0">
                <a:solidFill>
                  <a:srgbClr val="8A93A6"/>
                </a:solidFill>
              </a:rPr>
              <a:t>For tool calling that is the call rate. For your system it is whatever number separates correctly did nothing from did nothing.</a:t>
            </a:r>
            <a:endParaRPr lang="en-US" sz="14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94360" y="475488"/>
            <a:ext cx="10972800" cy="868680"/>
          </a:xfrm>
          <a:prstGeom prst="rect">
            <a:avLst/>
          </a:prstGeom>
          <a:noFill/>
          <a:ln/>
        </p:spPr>
        <p:txBody>
          <a:bodyPr wrap="square" rtlCol="0" anchor="ctr"/>
          <a:lstStyle/>
          <a:p>
            <a:pPr algn="l" indent="0" marL="0">
              <a:buNone/>
            </a:pPr>
            <a:r>
              <a:rPr lang="en-US" sz="3200" b="1" dirty="0">
                <a:solidFill>
                  <a:schemeClr val="tx1"/>
                </a:solidFill>
              </a:rPr>
              <a:t>The part I cannot answer, and you can</a:t>
            </a:r>
            <a:endParaRPr lang="en-US" sz="3200" dirty="0"/>
          </a:p>
        </p:txBody>
      </p:sp>
      <p:sp>
        <p:nvSpPr>
          <p:cNvPr id="3" name="card-132"/>
          <p:cNvSpPr/>
          <p:nvPr/>
        </p:nvSpPr>
        <p:spPr>
          <a:xfrm>
            <a:off x="594360" y="1572768"/>
            <a:ext cx="109728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4" name="q0-133"/>
          <p:cNvSpPr txBox="1"/>
          <p:nvPr/>
        </p:nvSpPr>
        <p:spPr>
          <a:xfrm>
            <a:off x="960120" y="1755648"/>
            <a:ext cx="10241280" cy="548640"/>
          </a:xfrm>
          <a:prstGeom prst="rect">
            <a:avLst/>
          </a:prstGeom>
          <a:noFill/>
          <a:ln/>
        </p:spPr>
        <p:txBody>
          <a:bodyPr wrap="square" lIns="0" tIns="0" rIns="0" bIns="0" rtlCol="0" anchor="ctr"/>
          <a:lstStyle/>
          <a:p>
            <a:pPr indent="0" marL="0">
              <a:buNone/>
            </a:pPr>
            <a:r>
              <a:rPr lang="en-US" sz="1600" b="1" dirty="0">
                <a:solidFill>
                  <a:schemeClr val="accent1"/>
                </a:solidFill>
              </a:rPr>
              <a:t>Who signs off  </a:t>
            </a:r>
            <a:pPr indent="0" marL="0">
              <a:buNone/>
            </a:pPr>
            <a:r>
              <a:rPr lang="en-US" sz="1600" dirty="0">
                <a:solidFill>
                  <a:schemeClr val="tx1"/>
                </a:solidFill>
              </a:rPr>
              <a:t>when the served model changes numerically but not by version number?</a:t>
            </a:r>
            <a:endParaRPr lang="en-US" sz="1600" dirty="0"/>
          </a:p>
        </p:txBody>
      </p:sp>
      <p:sp>
        <p:nvSpPr>
          <p:cNvPr id="5" name="card-134"/>
          <p:cNvSpPr/>
          <p:nvPr/>
        </p:nvSpPr>
        <p:spPr>
          <a:xfrm>
            <a:off x="594360" y="2596896"/>
            <a:ext cx="109728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6" name="q1-135"/>
          <p:cNvSpPr txBox="1"/>
          <p:nvPr/>
        </p:nvSpPr>
        <p:spPr>
          <a:xfrm>
            <a:off x="960120" y="2779776"/>
            <a:ext cx="10241280" cy="548640"/>
          </a:xfrm>
          <a:prstGeom prst="rect">
            <a:avLst/>
          </a:prstGeom>
          <a:noFill/>
          <a:ln/>
        </p:spPr>
        <p:txBody>
          <a:bodyPr wrap="square" lIns="0" tIns="0" rIns="0" bIns="0" rtlCol="0" anchor="ctr"/>
          <a:lstStyle/>
          <a:p>
            <a:pPr indent="0" marL="0">
              <a:buNone/>
            </a:pPr>
            <a:r>
              <a:rPr lang="en-US" sz="1600" b="1" dirty="0">
                <a:solidFill>
                  <a:schemeClr val="accent1"/>
                </a:solidFill>
              </a:rPr>
              <a:t>What evidence  </a:t>
            </a:r>
            <a:pPr indent="0" marL="0">
              <a:buNone/>
            </a:pPr>
            <a:r>
              <a:rPr lang="en-US" sz="1600" dirty="0">
                <a:solidFill>
                  <a:schemeClr val="tx1"/>
                </a:solidFill>
              </a:rPr>
              <a:t>does your team require, and has anyone ever actually rejected a change on it?</a:t>
            </a:r>
            <a:endParaRPr lang="en-US" sz="1600" dirty="0"/>
          </a:p>
        </p:txBody>
      </p:sp>
      <p:sp>
        <p:nvSpPr>
          <p:cNvPr id="7" name="card-136"/>
          <p:cNvSpPr/>
          <p:nvPr/>
        </p:nvSpPr>
        <p:spPr>
          <a:xfrm>
            <a:off x="594360" y="3621024"/>
            <a:ext cx="109728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8" name="q2-137"/>
          <p:cNvSpPr txBox="1"/>
          <p:nvPr/>
        </p:nvSpPr>
        <p:spPr>
          <a:xfrm>
            <a:off x="960120" y="3803904"/>
            <a:ext cx="10241280" cy="548640"/>
          </a:xfrm>
          <a:prstGeom prst="rect">
            <a:avLst/>
          </a:prstGeom>
          <a:noFill/>
          <a:ln/>
        </p:spPr>
        <p:txBody>
          <a:bodyPr wrap="square" lIns="0" tIns="0" rIns="0" bIns="0" rtlCol="0" anchor="ctr"/>
          <a:lstStyle/>
          <a:p>
            <a:pPr indent="0" marL="0">
              <a:buNone/>
            </a:pPr>
            <a:r>
              <a:rPr lang="en-US" sz="1600" b="1" dirty="0">
                <a:solidFill>
                  <a:schemeClr val="accent1"/>
                </a:solidFill>
              </a:rPr>
              <a:t>Should the platform  </a:t>
            </a:r>
            <a:pPr indent="0" marL="0">
              <a:buNone/>
            </a:pPr>
            <a:r>
              <a:rPr lang="en-US" sz="1600" dirty="0">
                <a:solidFill>
                  <a:schemeClr val="tx1"/>
                </a:solidFill>
              </a:rPr>
              <a:t>expose precision as a knob at all, or is that a decision that belongs upstream?</a:t>
            </a:r>
            <a:endParaRPr lang="en-US" sz="1600" dirty="0"/>
          </a:p>
        </p:txBody>
      </p:sp>
      <p:sp>
        <p:nvSpPr>
          <p:cNvPr id="9" name="card-138"/>
          <p:cNvSpPr/>
          <p:nvPr/>
        </p:nvSpPr>
        <p:spPr>
          <a:xfrm>
            <a:off x="594360" y="4645152"/>
            <a:ext cx="10972800" cy="868680"/>
          </a:xfrm>
          <a:prstGeom prst="roundRect">
            <a:avLst>
              <a:gd name="adj" fmla="val 8421"/>
            </a:avLst>
          </a:prstGeom>
          <a:solidFill>
            <a:schemeClr val="bg2"/>
          </a:solidFill>
          <a:ln w="12700">
            <a:solidFill>
              <a:schemeClr val="bg2"/>
            </a:solidFill>
            <a:prstDash val="solid"/>
          </a:ln>
          <a:effectLst>
            <a:outerShdw sx="100000" sy="100000" kx="0" ky="0" algn="bl" rotWithShape="0" blurRad="101600" dist="12700" dir="5400000">
              <a:srgbClr val="9AA0AC">
                <a:alpha val="22000"/>
              </a:srgbClr>
            </a:outerShdw>
          </a:effectLst>
        </p:spPr>
      </p:sp>
      <p:sp>
        <p:nvSpPr>
          <p:cNvPr id="10" name="q3-139"/>
          <p:cNvSpPr txBox="1"/>
          <p:nvPr/>
        </p:nvSpPr>
        <p:spPr>
          <a:xfrm>
            <a:off x="960120" y="4828032"/>
            <a:ext cx="10241280" cy="548640"/>
          </a:xfrm>
          <a:prstGeom prst="rect">
            <a:avLst/>
          </a:prstGeom>
          <a:noFill/>
          <a:ln/>
        </p:spPr>
        <p:txBody>
          <a:bodyPr wrap="square" lIns="0" tIns="0" rIns="0" bIns="0" rtlCol="0" anchor="ctr"/>
          <a:lstStyle/>
          <a:p>
            <a:pPr indent="0" marL="0">
              <a:buNone/>
            </a:pPr>
            <a:r>
              <a:rPr lang="en-US" sz="1600" b="1" dirty="0">
                <a:solidFill>
                  <a:schemeClr val="accent1"/>
                </a:solidFill>
              </a:rPr>
              <a:t>How would you find out  </a:t>
            </a:r>
            <a:pPr indent="0" marL="0">
              <a:buNone/>
            </a:pPr>
            <a:r>
              <a:rPr lang="en-US" sz="1600" dirty="0">
                <a:solidFill>
                  <a:schemeClr val="tx1"/>
                </a:solidFill>
              </a:rPr>
              <a:t>if a quantised model got worse in a way your current metrics do not show?</a:t>
            </a:r>
            <a:endParaRPr lang="en-US" sz="1600" dirty="0"/>
          </a:p>
        </p:txBody>
      </p:sp>
      <p:sp>
        <p:nvSpPr>
          <p:cNvPr id="11" name="qclose-140"/>
          <p:cNvSpPr txBox="1"/>
          <p:nvPr/>
        </p:nvSpPr>
        <p:spPr>
          <a:xfrm>
            <a:off x="594360" y="5779008"/>
            <a:ext cx="10972800" cy="411480"/>
          </a:xfrm>
          <a:prstGeom prst="rect">
            <a:avLst/>
          </a:prstGeom>
          <a:noFill/>
          <a:ln/>
        </p:spPr>
        <p:txBody>
          <a:bodyPr wrap="square" lIns="0" tIns="0" rIns="0" bIns="0" rtlCol="0" anchor="ctr"/>
          <a:lstStyle/>
          <a:p>
            <a:pPr indent="0" marL="0">
              <a:buNone/>
            </a:pPr>
            <a:r>
              <a:rPr lang="en-US" sz="1400" i="1" dirty="0">
                <a:solidFill>
                  <a:srgbClr val="6B7280"/>
                </a:solidFill>
              </a:rPr>
              <a:t>I have measured the technical side to death. How other teams organise this decision, I have almost no visibility into.</a:t>
            </a:r>
            <a:endParaRPr lang="en-US" sz="14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94360" y="566928"/>
            <a:ext cx="10972800" cy="868680"/>
          </a:xfrm>
          <a:prstGeom prst="rect">
            <a:avLst/>
          </a:prstGeom>
          <a:noFill/>
          <a:ln/>
        </p:spPr>
        <p:txBody>
          <a:bodyPr wrap="square" rtlCol="0" anchor="ctr"/>
          <a:lstStyle/>
          <a:p>
            <a:pPr algn="l" indent="0" marL="0">
              <a:buNone/>
            </a:pPr>
            <a:r>
              <a:rPr lang="en-US" sz="3200" b="1" dirty="0">
                <a:solidFill>
                  <a:schemeClr val="bg1"/>
                </a:solidFill>
              </a:rPr>
              <a:t>What to take away</a:t>
            </a:r>
            <a:endParaRPr lang="en-US" sz="3200" dirty="0"/>
          </a:p>
        </p:txBody>
      </p:sp>
      <p:sp>
        <p:nvSpPr>
          <p:cNvPr id="3" name="tdot-141"/>
          <p:cNvSpPr/>
          <p:nvPr/>
        </p:nvSpPr>
        <p:spPr>
          <a:xfrm>
            <a:off x="594360" y="1947672"/>
            <a:ext cx="457200" cy="457200"/>
          </a:xfrm>
          <a:prstGeom prst="ellipse">
            <a:avLst/>
          </a:prstGeom>
          <a:solidFill>
            <a:srgbClr val="E8633A"/>
          </a:solidFill>
          <a:ln w="12700">
            <a:solidFill>
              <a:srgbClr val="E8633A"/>
            </a:solidFill>
            <a:prstDash val="solid"/>
          </a:ln>
        </p:spPr>
      </p:sp>
      <p:sp>
        <p:nvSpPr>
          <p:cNvPr id="4" name="tnum-142"/>
          <p:cNvSpPr txBox="1"/>
          <p:nvPr/>
        </p:nvSpPr>
        <p:spPr>
          <a:xfrm>
            <a:off x="594360" y="19476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head-143"/>
          <p:cNvSpPr txBox="1"/>
          <p:nvPr/>
        </p:nvSpPr>
        <p:spPr>
          <a:xfrm>
            <a:off x="1325880" y="1874520"/>
            <a:ext cx="10241280" cy="457200"/>
          </a:xfrm>
          <a:prstGeom prst="rect">
            <a:avLst/>
          </a:prstGeom>
          <a:noFill/>
          <a:ln/>
        </p:spPr>
        <p:txBody>
          <a:bodyPr wrap="square" lIns="0" tIns="0" rIns="0" bIns="0" rtlCol="0" anchor="ctr"/>
          <a:lstStyle/>
          <a:p>
            <a:pPr indent="0" marL="0">
              <a:buNone/>
            </a:pPr>
            <a:r>
              <a:rPr lang="en-US" sz="2000" b="1" dirty="0">
                <a:solidFill>
                  <a:schemeClr val="bg1"/>
                </a:solidFill>
              </a:rPr>
              <a:t>Shared state between jobs is a distributed systems problem</a:t>
            </a:r>
            <a:endParaRPr lang="en-US" sz="2000" dirty="0"/>
          </a:p>
        </p:txBody>
      </p:sp>
      <p:sp>
        <p:nvSpPr>
          <p:cNvPr id="6" name="ttail-144"/>
          <p:cNvSpPr txBox="1"/>
          <p:nvPr/>
        </p:nvSpPr>
        <p:spPr>
          <a:xfrm>
            <a:off x="1325880" y="2350008"/>
            <a:ext cx="10241280" cy="457200"/>
          </a:xfrm>
          <a:prstGeom prst="rect">
            <a:avLst/>
          </a:prstGeom>
          <a:noFill/>
          <a:ln/>
        </p:spPr>
        <p:txBody>
          <a:bodyPr wrap="square" lIns="0" tIns="0" rIns="0" bIns="0" rtlCol="0" anchor="t"/>
          <a:lstStyle/>
          <a:p>
            <a:pPr indent="0" marL="0">
              <a:buNone/>
            </a:pPr>
            <a:r>
              <a:rPr lang="en-US" sz="1400" dirty="0">
                <a:solidFill>
                  <a:srgbClr val="8A93A6"/>
                </a:solidFill>
              </a:rPr>
              <a:t>not a filesystem operation. Make the consumer assert, not trust.</a:t>
            </a:r>
            <a:endParaRPr lang="en-US" sz="1400" dirty="0"/>
          </a:p>
        </p:txBody>
      </p:sp>
      <p:sp>
        <p:nvSpPr>
          <p:cNvPr id="7" name="tdot-145"/>
          <p:cNvSpPr/>
          <p:nvPr/>
        </p:nvSpPr>
        <p:spPr>
          <a:xfrm>
            <a:off x="594360" y="3246120"/>
            <a:ext cx="457200" cy="457200"/>
          </a:xfrm>
          <a:prstGeom prst="ellipse">
            <a:avLst/>
          </a:prstGeom>
          <a:solidFill>
            <a:srgbClr val="E8633A"/>
          </a:solidFill>
          <a:ln w="12700">
            <a:solidFill>
              <a:srgbClr val="E8633A"/>
            </a:solidFill>
            <a:prstDash val="solid"/>
          </a:ln>
        </p:spPr>
      </p:sp>
      <p:sp>
        <p:nvSpPr>
          <p:cNvPr id="8" name="tnum-146"/>
          <p:cNvSpPr txBox="1"/>
          <p:nvPr/>
        </p:nvSpPr>
        <p:spPr>
          <a:xfrm>
            <a:off x="59436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head-147"/>
          <p:cNvSpPr txBox="1"/>
          <p:nvPr/>
        </p:nvSpPr>
        <p:spPr>
          <a:xfrm>
            <a:off x="1325880" y="3172968"/>
            <a:ext cx="10241280" cy="457200"/>
          </a:xfrm>
          <a:prstGeom prst="rect">
            <a:avLst/>
          </a:prstGeom>
          <a:noFill/>
          <a:ln/>
        </p:spPr>
        <p:txBody>
          <a:bodyPr wrap="square" lIns="0" tIns="0" rIns="0" bIns="0" rtlCol="0" anchor="ctr"/>
          <a:lstStyle/>
          <a:p>
            <a:pPr indent="0" marL="0">
              <a:buNone/>
            </a:pPr>
            <a:r>
              <a:rPr lang="en-US" sz="2000" b="1" dirty="0">
                <a:solidFill>
                  <a:schemeClr val="bg1"/>
                </a:solidFill>
              </a:rPr>
              <a:t>A cheap screen catches more than careful review</a:t>
            </a:r>
            <a:endParaRPr lang="en-US" sz="2000" dirty="0"/>
          </a:p>
        </p:txBody>
      </p:sp>
      <p:sp>
        <p:nvSpPr>
          <p:cNvPr id="10" name="ttail-148"/>
          <p:cNvSpPr txBox="1"/>
          <p:nvPr/>
        </p:nvSpPr>
        <p:spPr>
          <a:xfrm>
            <a:off x="1325880" y="3648456"/>
            <a:ext cx="10241280" cy="457200"/>
          </a:xfrm>
          <a:prstGeom prst="rect">
            <a:avLst/>
          </a:prstGeom>
          <a:noFill/>
          <a:ln/>
        </p:spPr>
        <p:txBody>
          <a:bodyPr wrap="square" lIns="0" tIns="0" rIns="0" bIns="0" rtlCol="0" anchor="t"/>
          <a:lstStyle/>
          <a:p>
            <a:pPr indent="0" marL="0">
              <a:buNone/>
            </a:pPr>
            <a:r>
              <a:rPr lang="en-US" sz="1400" dirty="0">
                <a:solidFill>
                  <a:srgbClr val="8A93A6"/>
                </a:solidFill>
              </a:rPr>
              <a:t>a CPU smoke test and a throughput probe, every time, before anything paid starts.</a:t>
            </a:r>
            <a:endParaRPr lang="en-US" sz="1400" dirty="0"/>
          </a:p>
        </p:txBody>
      </p:sp>
      <p:sp>
        <p:nvSpPr>
          <p:cNvPr id="11" name="tdot-149"/>
          <p:cNvSpPr/>
          <p:nvPr/>
        </p:nvSpPr>
        <p:spPr>
          <a:xfrm>
            <a:off x="594360" y="4544568"/>
            <a:ext cx="457200" cy="457200"/>
          </a:xfrm>
          <a:prstGeom prst="ellipse">
            <a:avLst/>
          </a:prstGeom>
          <a:solidFill>
            <a:srgbClr val="E8633A"/>
          </a:solidFill>
          <a:ln w="12700">
            <a:solidFill>
              <a:srgbClr val="E8633A"/>
            </a:solidFill>
            <a:prstDash val="solid"/>
          </a:ln>
        </p:spPr>
      </p:sp>
      <p:sp>
        <p:nvSpPr>
          <p:cNvPr id="12" name="tnum-150"/>
          <p:cNvSpPr txBox="1"/>
          <p:nvPr/>
        </p:nvSpPr>
        <p:spPr>
          <a:xfrm>
            <a:off x="594360" y="45445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head-151"/>
          <p:cNvSpPr txBox="1"/>
          <p:nvPr/>
        </p:nvSpPr>
        <p:spPr>
          <a:xfrm>
            <a:off x="1325880" y="4471416"/>
            <a:ext cx="10241280" cy="457200"/>
          </a:xfrm>
          <a:prstGeom prst="rect">
            <a:avLst/>
          </a:prstGeom>
          <a:noFill/>
          <a:ln/>
        </p:spPr>
        <p:txBody>
          <a:bodyPr wrap="square" lIns="0" tIns="0" rIns="0" bIns="0" rtlCol="0" anchor="ctr"/>
          <a:lstStyle/>
          <a:p>
            <a:pPr indent="0" marL="0">
              <a:buNone/>
            </a:pPr>
            <a:r>
              <a:rPr lang="en-US" sz="2000" b="1" dirty="0">
                <a:solidFill>
                  <a:schemeClr val="bg1"/>
                </a:solidFill>
              </a:rPr>
              <a:t>The failures that cost the most had no owner</a:t>
            </a:r>
            <a:endParaRPr lang="en-US" sz="2000" dirty="0"/>
          </a:p>
        </p:txBody>
      </p:sp>
      <p:sp>
        <p:nvSpPr>
          <p:cNvPr id="14" name="ttail-152"/>
          <p:cNvSpPr txBox="1"/>
          <p:nvPr/>
        </p:nvSpPr>
        <p:spPr>
          <a:xfrm>
            <a:off x="1325880" y="4946904"/>
            <a:ext cx="10241280" cy="457200"/>
          </a:xfrm>
          <a:prstGeom prst="rect">
            <a:avLst/>
          </a:prstGeom>
          <a:noFill/>
          <a:ln/>
        </p:spPr>
        <p:txBody>
          <a:bodyPr wrap="square" lIns="0" tIns="0" rIns="0" bIns="0" rtlCol="0" anchor="t"/>
          <a:lstStyle/>
          <a:p>
            <a:pPr indent="0" marL="0">
              <a:buNone/>
            </a:pPr>
            <a:r>
              <a:rPr lang="en-US" sz="1400" dirty="0">
                <a:solidFill>
                  <a:srgbClr val="8A93A6"/>
                </a:solidFill>
              </a:rPr>
              <a:t>not no alert. Ask who owns the decision before you ask what the code did.</a:t>
            </a:r>
            <a:endParaRPr lang="en-US" sz="1400" dirty="0"/>
          </a:p>
        </p:txBody>
      </p:sp>
      <p:sp>
        <p:nvSpPr>
          <p:cNvPr id="15" name="close-153"/>
          <p:cNvSpPr txBox="1"/>
          <p:nvPr/>
        </p:nvSpPr>
        <p:spPr>
          <a:xfrm>
            <a:off x="594360" y="5943600"/>
            <a:ext cx="10972800" cy="457200"/>
          </a:xfrm>
          <a:prstGeom prst="rect">
            <a:avLst/>
          </a:prstGeom>
          <a:noFill/>
          <a:ln/>
        </p:spPr>
        <p:txBody>
          <a:bodyPr wrap="square" lIns="0" tIns="0" rIns="0" bIns="0" rtlCol="0" anchor="ctr"/>
          <a:lstStyle/>
          <a:p>
            <a:pPr indent="0" marL="0">
              <a:buNone/>
            </a:pPr>
            <a:r>
              <a:rPr lang="en-US" sz="1300" dirty="0">
                <a:solidFill>
                  <a:srgbClr val="3FA796"/>
                </a:solidFill>
              </a:rPr>
              <a:t>github.com/aloshdenny/superfloat   ·   every number in this talk traces to an archived result file</a:t>
            </a:r>
            <a:endParaRPr lang="en-US" sz="1300" dirty="0"/>
          </a:p>
        </p:txBody>
      </p:sp>
    </p:spTree>
  </p:cSld>
  <p:clrMapOvr>
    <a:masterClrMapping/>
  </p:clrMapOvr>
</p:sld>
</file>

<file path=ppt/theme/theme1.xml><?xml version="1.0" encoding="utf-8"?>
<a:theme xmlns:a="http://schemas.openxmlformats.org/drawingml/2006/main" name="Burned GPU Hours">
  <a:themeElements>
    <a:clrScheme name="Burned GPU Hours">
      <a:dk1>
        <a:srgbClr val="1A1A1E"/>
      </a:dk1>
      <a:lt1>
        <a:srgbClr val="FFFFFF"/>
      </a:lt1>
      <a:dk2>
        <a:srgbClr val="232733"/>
      </a:dk2>
      <a:lt2>
        <a:srgbClr val="F4F5F7"/>
      </a:lt2>
      <a:accent1>
        <a:srgbClr val="E8633A"/>
      </a:accent1>
      <a:accent2>
        <a:srgbClr val="3FA796"/>
      </a:accent2>
      <a:accent3>
        <a:srgbClr val="F2B134"/>
      </a:accent3>
      <a:accent4>
        <a:srgbClr val="8A93A6"/>
      </a:accent4>
      <a:accent5>
        <a:srgbClr val="C0392B"/>
      </a:accent5>
      <a:accent6>
        <a:srgbClr val="5B7CFA"/>
      </a:accent6>
      <a:hlink>
        <a:srgbClr val="5B7CFA"/>
      </a:hlink>
      <a:folHlink>
        <a:srgbClr val="8A93A6"/>
      </a:folHlink>
    </a:clrScheme>
    <a:fontScheme name="Burned GPU Hour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 Burned 48 GPU Hours Training On 96 Million Tokens</dc:title>
  <dc:subject>PptxGenJS Presentation</dc:subject>
  <dc:creator>Alosh Denny</dc:creator>
  <cp:lastModifiedBy>Alosh Denny</cp:lastModifiedBy>
  <cp:revision>1</cp:revision>
  <dcterms:created xsi:type="dcterms:W3CDTF">2026-10-06T12:11:53Z</dcterms:created>
  <dcterms:modified xsi:type="dcterms:W3CDTF">2026-10-06T12:11:53Z</dcterms:modified>
</cp:coreProperties>
</file>