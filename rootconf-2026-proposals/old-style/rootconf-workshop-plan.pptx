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 plan" id="{b4f299bd-2f4f-bb85-8f08-127f87df62aa}">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for the editors: this is not the workshop content, it is how I intend to run it. Lead with the fact that everything is CPU only and that there are pre-baked checkpoints at every stage so nobody gets stranded.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order is that they break things before they learn to diagnose. Diagnosis is boring until you have a corpse.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hours is the number I would ask for. It compresses to two by dropping the evaluation build and demoing it instead, and that is the version I would run if the slot is shorter. It does not compress below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failures I shipped. Say so. The third one is the bridge into the evaluation hour, and it is the one people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pedagogical argument for the workshop. Reading sample output is subjective and slow. Reading a weight histogram is neither, and it transfers to whatever checkpoint they work on at their own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no GPU point to the editors. It removes the single biggest reason hands-on ML workshops fall apart, which is half the room waiting on a download or a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editors' real question about any workshop is whether it will collapse.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has happened to me in a room. Say that. The fourth one is the important one: the session is designed so the last hour is the thing that gives, not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content section on the outcome, not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willingness, not on conditions. The Q1 preference is a recommendation and they should hear it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1828800"/>
            <a:ext cx="109728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 </a:t>
            </a:r>
            <a:endParaRPr lang="en-US" sz="4400" dirty="0"/>
          </a:p>
        </p:txBody>
      </p:sp>
      <p:sp>
        <p:nvSpPr>
          <p:cNvPr id="3" name="Text 0"/>
          <p:cNvSpPr/>
          <p:nvPr>
            <p:ph idx="101" type="body" hasCustomPrompt="1"/>
          </p:nvPr>
        </p:nvSpPr>
        <p:spPr>
          <a:xfrm>
            <a:off x="594360" y="3794760"/>
            <a:ext cx="9692640" cy="1737360"/>
          </a:xfrm>
          <a:prstGeom prst="rect">
            <a:avLst/>
          </a:prstGeom>
          <a:noFill/>
          <a:ln/>
        </p:spPr>
        <p:txBody>
          <a:bodyPr wrap="square" rtlCol="0"/>
          <a:lstStyle>
            <a:lvl1pPr indent="0" marL="0">
              <a:buNone/>
              <a:defRPr lang="en-US" sz="1500" dirty="0">
                <a:solidFill>
                  <a:srgbClr val="8A93A6"/>
                </a:solidFill>
              </a:defRPr>
            </a:lvl1pPr>
          </a:lstStyle>
          <a:p>
            <a:pPr indent="0" marL="0">
              <a:buNone/>
            </a:pPr>
            <a:r>
              <a:rPr lang="en-US" sz="1500" dirty="0">
                <a:solidFill>
                  <a:srgbClr val="8A93A6"/>
                </a:solidFill>
              </a:rPr>
              <a:t> </a:t>
            </a:r>
            <a:endParaRPr lang="en-US" sz="1500" dirty="0"/>
          </a:p>
        </p:txBody>
      </p:sp>
      <p:sp>
        <p:nvSpPr>
          <p:cNvPr id="4" name="Text 0"/>
          <p:cNvSpPr txBox="1"/>
          <p:nvPr/>
        </p:nvSpPr>
        <p:spPr>
          <a:xfrm>
            <a:off x="594360" y="6144768"/>
            <a:ext cx="7315200" cy="320040"/>
          </a:xfrm>
          <a:prstGeom prst="rect">
            <a:avLst/>
          </a:prstGeom>
          <a:noFill/>
          <a:ln/>
        </p:spPr>
        <p:txBody>
          <a:bodyPr wrap="square" lIns="0" tIns="0" rIns="0" bIns="0" rtlCol="0" anchor="ctr"/>
          <a:lstStyle/>
          <a:p>
            <a:pPr indent="0" marL="0">
              <a:buNone/>
            </a:pPr>
            <a:r>
              <a:rPr lang="en-US" sz="1100" dirty="0">
                <a:solidFill>
                  <a:srgbClr val="8A93A6"/>
                </a:solidFill>
              </a:rPr>
              <a:t>Workshop delivery plan  ·  Rootconf 2026  ·  Alosh Denny</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txBox="1"/>
          <p:nvPr/>
        </p:nvSpPr>
        <p:spPr>
          <a:xfrm>
            <a:off x="594360" y="6327648"/>
            <a:ext cx="5486400" cy="274320"/>
          </a:xfrm>
          <a:prstGeom prst="rect">
            <a:avLst/>
          </a:prstGeom>
          <a:noFill/>
          <a:ln/>
        </p:spPr>
        <p:txBody>
          <a:bodyPr wrap="square" lIns="0" tIns="0" rIns="0" bIns="0" rtlCol="0" anchor="ctr"/>
          <a:lstStyle/>
          <a:p>
            <a:pPr indent="0" marL="0">
              <a:buNone/>
            </a:pPr>
            <a:r>
              <a:rPr lang="en-US" sz="1000" dirty="0">
                <a:solidFill>
                  <a:srgbClr val="6B7280"/>
                </a:solidFill>
              </a:rPr>
              <a:t>Break a model, then fix it</a:t>
            </a:r>
            <a:endParaRPr lang="en-US" sz="10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r>
              <a:rPr lang="en-US" sz="3200" b="1" dirty="0">
                <a:solidFill>
                  <a:schemeClr val="bg1"/>
                </a:solidFill>
              </a:rPr>
              <a:t> </a:t>
            </a: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94360" y="1828800"/>
            <a:ext cx="10972800" cy="1828800"/>
          </a:xfrm>
          <a:prstGeom prst="rect">
            <a:avLst/>
          </a:prstGeom>
          <a:noFill/>
          <a:ln/>
        </p:spPr>
        <p:txBody>
          <a:bodyPr wrap="square" rtlCol="0" anchor="b"/>
          <a:lstStyle/>
          <a:p>
            <a:pPr algn="l" indent="0" marL="0">
              <a:buNone/>
            </a:pPr>
            <a:r>
              <a:rPr lang="en-US" sz="4400" b="1" dirty="0">
                <a:solidFill>
                  <a:schemeClr val="bg1"/>
                </a:solidFill>
              </a:rPr>
              <a:t>Break a model, then fix it</a:t>
            </a:r>
            <a:endParaRPr lang="en-US" sz="4400" dirty="0"/>
          </a:p>
        </p:txBody>
      </p:sp>
      <p:sp>
        <p:nvSpPr>
          <p:cNvPr id="3" name="Text 0"/>
          <p:cNvSpPr/>
          <p:nvPr>
            <p:ph idx="101" type="body" hasCustomPrompt="1"/>
          </p:nvPr>
        </p:nvSpPr>
        <p:spPr>
          <a:xfrm>
            <a:off x="594360" y="3794760"/>
            <a:ext cx="9692640" cy="1737360"/>
          </a:xfrm>
          <a:prstGeom prst="rect">
            <a:avLst/>
          </a:prstGeom>
          <a:noFill/>
          <a:ln/>
        </p:spPr>
        <p:txBody>
          <a:bodyPr wrap="square" rtlCol="0" anchor="t"/>
          <a:lstStyle/>
          <a:p>
            <a:pPr indent="0" marL="0">
              <a:buNone/>
            </a:pPr>
            <a:r>
              <a:rPr lang="en-US" sz="1500" dirty="0">
                <a:solidFill>
                  <a:srgbClr val="8A93A6"/>
                </a:solidFill>
              </a:rPr>
              <a:t>A three hour hands-on session on quantisation, and on proving the thing you quantised still works. This is the delivery plan: how the room spends the time, what runs on a laptop, and what I do when a third of it does not.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The arc, in four moves</a:t>
            </a:r>
            <a:endParaRPr lang="en-US" sz="3200" dirty="0"/>
          </a:p>
        </p:txBody>
      </p:sp>
      <p:sp>
        <p:nvSpPr>
          <p:cNvPr id="3" name="card-1"/>
          <p:cNvSpPr/>
          <p:nvPr/>
        </p:nvSpPr>
        <p:spPr>
          <a:xfrm>
            <a:off x="594360" y="164592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dot-2"/>
          <p:cNvSpPr/>
          <p:nvPr/>
        </p:nvSpPr>
        <p:spPr>
          <a:xfrm>
            <a:off x="868680" y="1901952"/>
            <a:ext cx="420624" cy="420624"/>
          </a:xfrm>
          <a:prstGeom prst="ellipse">
            <a:avLst/>
          </a:prstGeom>
          <a:solidFill>
            <a:schemeClr val="accent1"/>
          </a:solidFill>
          <a:ln w="12700">
            <a:solidFill>
              <a:schemeClr val="accent1"/>
            </a:solidFill>
            <a:prstDash val="solid"/>
          </a:ln>
        </p:spPr>
      </p:sp>
      <p:sp>
        <p:nvSpPr>
          <p:cNvPr id="5" name="dotnum-3"/>
          <p:cNvSpPr txBox="1"/>
          <p:nvPr/>
        </p:nvSpPr>
        <p:spPr>
          <a:xfrm>
            <a:off x="868680" y="19019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cardhead-4"/>
          <p:cNvSpPr txBox="1"/>
          <p:nvPr/>
        </p:nvSpPr>
        <p:spPr>
          <a:xfrm>
            <a:off x="1435608" y="1865376"/>
            <a:ext cx="4206240" cy="512064"/>
          </a:xfrm>
          <a:prstGeom prst="rect">
            <a:avLst/>
          </a:prstGeom>
          <a:noFill/>
          <a:ln/>
        </p:spPr>
        <p:txBody>
          <a:bodyPr wrap="square" lIns="0" tIns="0" rIns="0" bIns="0" rtlCol="0" anchor="t"/>
          <a:lstStyle/>
          <a:p>
            <a:pPr indent="0" marL="0">
              <a:buNone/>
            </a:pPr>
            <a:r>
              <a:rPr lang="en-US" sz="1700" b="1" dirty="0">
                <a:solidFill>
                  <a:schemeClr val="tx1"/>
                </a:solidFill>
              </a:rPr>
              <a:t>Build it</a:t>
            </a:r>
            <a:endParaRPr lang="en-US" sz="1700" dirty="0"/>
          </a:p>
        </p:txBody>
      </p:sp>
      <p:sp>
        <p:nvSpPr>
          <p:cNvPr id="7" name="cardbody-5"/>
          <p:cNvSpPr txBox="1"/>
          <p:nvPr/>
        </p:nvSpPr>
        <p:spPr>
          <a:xfrm>
            <a:off x="1435608" y="2432304"/>
            <a:ext cx="4206240" cy="987552"/>
          </a:xfrm>
          <a:prstGeom prst="rect">
            <a:avLst/>
          </a:prstGeom>
          <a:noFill/>
          <a:ln/>
        </p:spPr>
        <p:txBody>
          <a:bodyPr wrap="square" lIns="0" tIns="0" rIns="0" bIns="0" rtlCol="0" anchor="t"/>
          <a:lstStyle/>
          <a:p>
            <a:pPr indent="0" marL="0">
              <a:buNone/>
            </a:pPr>
            <a:r>
              <a:rPr lang="en-US" sz="1350" dirty="0">
                <a:solidFill>
                  <a:schemeClr val="tx1"/>
                </a:solidFill>
              </a:rPr>
              <a:t>Participants write the quantiser themselves. The grid, rounding, and a bounded straight through estimator. About forty lines, with a unit test that has to go green before anyone moves on.</a:t>
            </a:r>
            <a:endParaRPr lang="en-US" sz="1350" dirty="0"/>
          </a:p>
        </p:txBody>
      </p:sp>
      <p:sp>
        <p:nvSpPr>
          <p:cNvPr id="8" name="card-6"/>
          <p:cNvSpPr/>
          <p:nvPr/>
        </p:nvSpPr>
        <p:spPr>
          <a:xfrm>
            <a:off x="6217920" y="164592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9" name="dot-7"/>
          <p:cNvSpPr/>
          <p:nvPr/>
        </p:nvSpPr>
        <p:spPr>
          <a:xfrm>
            <a:off x="6492240" y="1901952"/>
            <a:ext cx="420624" cy="420624"/>
          </a:xfrm>
          <a:prstGeom prst="ellipse">
            <a:avLst/>
          </a:prstGeom>
          <a:solidFill>
            <a:schemeClr val="accent1"/>
          </a:solidFill>
          <a:ln w="12700">
            <a:solidFill>
              <a:schemeClr val="accent1"/>
            </a:solidFill>
            <a:prstDash val="solid"/>
          </a:ln>
        </p:spPr>
      </p:sp>
      <p:sp>
        <p:nvSpPr>
          <p:cNvPr id="10" name="dotnum-8"/>
          <p:cNvSpPr txBox="1"/>
          <p:nvPr/>
        </p:nvSpPr>
        <p:spPr>
          <a:xfrm>
            <a:off x="6492240" y="19019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cardhead-9"/>
          <p:cNvSpPr txBox="1"/>
          <p:nvPr/>
        </p:nvSpPr>
        <p:spPr>
          <a:xfrm>
            <a:off x="7059168" y="1865376"/>
            <a:ext cx="4206240" cy="512064"/>
          </a:xfrm>
          <a:prstGeom prst="rect">
            <a:avLst/>
          </a:prstGeom>
          <a:noFill/>
          <a:ln/>
        </p:spPr>
        <p:txBody>
          <a:bodyPr wrap="square" lIns="0" tIns="0" rIns="0" bIns="0" rtlCol="0" anchor="t"/>
          <a:lstStyle/>
          <a:p>
            <a:pPr indent="0" marL="0">
              <a:buNone/>
            </a:pPr>
            <a:r>
              <a:rPr lang="en-US" sz="1700" b="1" dirty="0">
                <a:solidFill>
                  <a:schemeClr val="tx1"/>
                </a:solidFill>
              </a:rPr>
              <a:t>Break it, on purpose</a:t>
            </a:r>
            <a:endParaRPr lang="en-US" sz="1700" dirty="0"/>
          </a:p>
        </p:txBody>
      </p:sp>
      <p:sp>
        <p:nvSpPr>
          <p:cNvPr id="12" name="cardbody-10"/>
          <p:cNvSpPr txBox="1"/>
          <p:nvPr/>
        </p:nvSpPr>
        <p:spPr>
          <a:xfrm>
            <a:off x="7059168" y="2432304"/>
            <a:ext cx="4206240" cy="987552"/>
          </a:xfrm>
          <a:prstGeom prst="rect">
            <a:avLst/>
          </a:prstGeom>
          <a:noFill/>
          <a:ln/>
        </p:spPr>
        <p:txBody>
          <a:bodyPr wrap="square" lIns="0" tIns="0" rIns="0" bIns="0" rtlCol="0" anchor="t"/>
          <a:lstStyle/>
          <a:p>
            <a:pPr indent="0" marL="0">
              <a:buNone/>
            </a:pPr>
            <a:r>
              <a:rPr lang="en-US" sz="1350" dirty="0">
                <a:solidFill>
                  <a:schemeClr val="tx1"/>
                </a:solidFill>
              </a:rPr>
              <a:t>Three deliberate failures, one at a time, each a one line change. All three are bugs I actually shipped, and each one fails in a way that does not look like what it is.</a:t>
            </a:r>
            <a:endParaRPr lang="en-US" sz="1350" dirty="0"/>
          </a:p>
        </p:txBody>
      </p:sp>
      <p:sp>
        <p:nvSpPr>
          <p:cNvPr id="13" name="card-11"/>
          <p:cNvSpPr/>
          <p:nvPr/>
        </p:nvSpPr>
        <p:spPr>
          <a:xfrm>
            <a:off x="594360" y="388620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4" name="dot-12"/>
          <p:cNvSpPr/>
          <p:nvPr/>
        </p:nvSpPr>
        <p:spPr>
          <a:xfrm>
            <a:off x="868680" y="4142232"/>
            <a:ext cx="420624" cy="420624"/>
          </a:xfrm>
          <a:prstGeom prst="ellipse">
            <a:avLst/>
          </a:prstGeom>
          <a:solidFill>
            <a:schemeClr val="accent2"/>
          </a:solidFill>
          <a:ln w="12700">
            <a:solidFill>
              <a:schemeClr val="accent2"/>
            </a:solidFill>
            <a:prstDash val="solid"/>
          </a:ln>
        </p:spPr>
      </p:sp>
      <p:sp>
        <p:nvSpPr>
          <p:cNvPr id="15" name="dotnum-13"/>
          <p:cNvSpPr txBox="1"/>
          <p:nvPr/>
        </p:nvSpPr>
        <p:spPr>
          <a:xfrm>
            <a:off x="868680" y="41422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cardhead-14"/>
          <p:cNvSpPr txBox="1"/>
          <p:nvPr/>
        </p:nvSpPr>
        <p:spPr>
          <a:xfrm>
            <a:off x="1435608" y="4105656"/>
            <a:ext cx="4206240" cy="512064"/>
          </a:xfrm>
          <a:prstGeom prst="rect">
            <a:avLst/>
          </a:prstGeom>
          <a:noFill/>
          <a:ln/>
        </p:spPr>
        <p:txBody>
          <a:bodyPr wrap="square" lIns="0" tIns="0" rIns="0" bIns="0" rtlCol="0" anchor="t"/>
          <a:lstStyle/>
          <a:p>
            <a:pPr indent="0" marL="0">
              <a:buNone/>
            </a:pPr>
            <a:r>
              <a:rPr lang="en-US" sz="1700" b="1" dirty="0">
                <a:solidFill>
                  <a:schemeClr val="tx1"/>
                </a:solidFill>
              </a:rPr>
              <a:t>Diagnose from the weights</a:t>
            </a:r>
            <a:endParaRPr lang="en-US" sz="1700" dirty="0"/>
          </a:p>
        </p:txBody>
      </p:sp>
      <p:sp>
        <p:nvSpPr>
          <p:cNvPr id="17" name="cardbody-15"/>
          <p:cNvSpPr txBox="1"/>
          <p:nvPr/>
        </p:nvSpPr>
        <p:spPr>
          <a:xfrm>
            <a:off x="1435608" y="4672584"/>
            <a:ext cx="4206240" cy="987552"/>
          </a:xfrm>
          <a:prstGeom prst="rect">
            <a:avLst/>
          </a:prstGeom>
          <a:noFill/>
          <a:ln/>
        </p:spPr>
        <p:txBody>
          <a:bodyPr wrap="square" lIns="0" tIns="0" rIns="0" bIns="0" rtlCol="0" anchor="t"/>
          <a:lstStyle/>
          <a:p>
            <a:pPr indent="0" marL="0">
              <a:buNone/>
            </a:pPr>
            <a:r>
              <a:rPr lang="en-US" sz="1350" dirty="0">
                <a:solidFill>
                  <a:schemeClr val="tx1"/>
                </a:solidFill>
              </a:rPr>
              <a:t>Not from generated text. Participants learn to read the weight distribution and predict which break they are looking at before the answer is revealed.</a:t>
            </a:r>
            <a:endParaRPr lang="en-US" sz="1350" dirty="0"/>
          </a:p>
        </p:txBody>
      </p:sp>
      <p:sp>
        <p:nvSpPr>
          <p:cNvPr id="18" name="card-16"/>
          <p:cNvSpPr/>
          <p:nvPr/>
        </p:nvSpPr>
        <p:spPr>
          <a:xfrm>
            <a:off x="6217920" y="388620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9" name="dot-17"/>
          <p:cNvSpPr/>
          <p:nvPr/>
        </p:nvSpPr>
        <p:spPr>
          <a:xfrm>
            <a:off x="6492240" y="4142232"/>
            <a:ext cx="420624" cy="420624"/>
          </a:xfrm>
          <a:prstGeom prst="ellipse">
            <a:avLst/>
          </a:prstGeom>
          <a:solidFill>
            <a:schemeClr val="accent2"/>
          </a:solidFill>
          <a:ln w="12700">
            <a:solidFill>
              <a:schemeClr val="accent2"/>
            </a:solidFill>
            <a:prstDash val="solid"/>
          </a:ln>
        </p:spPr>
      </p:sp>
      <p:sp>
        <p:nvSpPr>
          <p:cNvPr id="20" name="dotnum-18"/>
          <p:cNvSpPr txBox="1"/>
          <p:nvPr/>
        </p:nvSpPr>
        <p:spPr>
          <a:xfrm>
            <a:off x="6492240" y="41422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cardhead-19"/>
          <p:cNvSpPr txBox="1"/>
          <p:nvPr/>
        </p:nvSpPr>
        <p:spPr>
          <a:xfrm>
            <a:off x="7059168" y="4105656"/>
            <a:ext cx="4206240" cy="512064"/>
          </a:xfrm>
          <a:prstGeom prst="rect">
            <a:avLst/>
          </a:prstGeom>
          <a:noFill/>
          <a:ln/>
        </p:spPr>
        <p:txBody>
          <a:bodyPr wrap="square" lIns="0" tIns="0" rIns="0" bIns="0" rtlCol="0" anchor="t"/>
          <a:lstStyle/>
          <a:p>
            <a:pPr indent="0" marL="0">
              <a:buNone/>
            </a:pPr>
            <a:r>
              <a:rPr lang="en-US" sz="1700" b="1" dirty="0">
                <a:solidFill>
                  <a:schemeClr val="tx1"/>
                </a:solidFill>
              </a:rPr>
              <a:t>Build the evaluation</a:t>
            </a:r>
            <a:endParaRPr lang="en-US" sz="1700" dirty="0"/>
          </a:p>
        </p:txBody>
      </p:sp>
      <p:sp>
        <p:nvSpPr>
          <p:cNvPr id="22" name="cardbody-20"/>
          <p:cNvSpPr txBox="1"/>
          <p:nvPr/>
        </p:nvSpPr>
        <p:spPr>
          <a:xfrm>
            <a:off x="7059168" y="4672584"/>
            <a:ext cx="4206240" cy="987552"/>
          </a:xfrm>
          <a:prstGeom prst="rect">
            <a:avLst/>
          </a:prstGeom>
          <a:noFill/>
          <a:ln/>
        </p:spPr>
        <p:txBody>
          <a:bodyPr wrap="square" lIns="0" tIns="0" rIns="0" bIns="0" rtlCol="0" anchor="t"/>
          <a:lstStyle/>
          <a:p>
            <a:pPr indent="0" marL="0">
              <a:buNone/>
            </a:pPr>
            <a:r>
              <a:rPr lang="en-US" sz="1350" dirty="0">
                <a:solidFill>
                  <a:schemeClr val="tx1"/>
                </a:solidFill>
              </a:rPr>
              <a:t>The last hour builds the harness that catches the failure accuracy alone misses, and runs it against all four models from the session: one good, three broken.</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The run sheet</a:t>
            </a:r>
            <a:endParaRPr lang="en-US" sz="3200" dirty="0"/>
          </a:p>
        </p:txBody>
      </p:sp>
      <p:sp>
        <p:nvSpPr>
          <p:cNvPr id="3" name="card-21"/>
          <p:cNvSpPr/>
          <p:nvPr/>
        </p:nvSpPr>
        <p:spPr>
          <a:xfrm>
            <a:off x="594360" y="1572768"/>
            <a:ext cx="10972800" cy="530352"/>
          </a:xfrm>
          <a:prstGeom prst="roundRect">
            <a:avLst>
              <a:gd name="adj" fmla="val 1379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rowt-22"/>
          <p:cNvSpPr txBox="1"/>
          <p:nvPr/>
        </p:nvSpPr>
        <p:spPr>
          <a:xfrm>
            <a:off x="868680" y="1636776"/>
            <a:ext cx="658368" cy="402336"/>
          </a:xfrm>
          <a:prstGeom prst="rect">
            <a:avLst/>
          </a:prstGeom>
          <a:noFill/>
          <a:ln/>
        </p:spPr>
        <p:txBody>
          <a:bodyPr wrap="square" lIns="0" tIns="0" rIns="0" bIns="0" rtlCol="0" anchor="ctr"/>
          <a:lstStyle/>
          <a:p>
            <a:pPr indent="0" marL="0">
              <a:buNone/>
            </a:pPr>
            <a:r>
              <a:rPr lang="en-US" sz="1500" b="1" dirty="0">
                <a:solidFill>
                  <a:srgbClr val="6B7280"/>
                </a:solidFill>
              </a:rPr>
              <a:t>0:00</a:t>
            </a:r>
            <a:endParaRPr lang="en-US" sz="1500" dirty="0"/>
          </a:p>
        </p:txBody>
      </p:sp>
      <p:sp>
        <p:nvSpPr>
          <p:cNvPr id="5" name="rowd-23"/>
          <p:cNvSpPr txBox="1"/>
          <p:nvPr/>
        </p:nvSpPr>
        <p:spPr>
          <a:xfrm>
            <a:off x="1645920" y="1636776"/>
            <a:ext cx="777240" cy="402336"/>
          </a:xfrm>
          <a:prstGeom prst="rect">
            <a:avLst/>
          </a:prstGeom>
          <a:noFill/>
          <a:ln/>
        </p:spPr>
        <p:txBody>
          <a:bodyPr wrap="square" lIns="0" tIns="0" rIns="0" bIns="0" rtlCol="0" anchor="ctr"/>
          <a:lstStyle/>
          <a:p>
            <a:pPr indent="0" marL="0">
              <a:buNone/>
            </a:pPr>
            <a:r>
              <a:rPr lang="en-US" sz="1200" dirty="0">
                <a:solidFill>
                  <a:srgbClr val="6B7280"/>
                </a:solidFill>
              </a:rPr>
              <a:t>15 min</a:t>
            </a:r>
            <a:endParaRPr lang="en-US" sz="1200" dirty="0"/>
          </a:p>
        </p:txBody>
      </p:sp>
      <p:sp>
        <p:nvSpPr>
          <p:cNvPr id="6" name="rowb-24"/>
          <p:cNvSpPr txBox="1"/>
          <p:nvPr/>
        </p:nvSpPr>
        <p:spPr>
          <a:xfrm>
            <a:off x="2560320" y="1636776"/>
            <a:ext cx="8686800" cy="402336"/>
          </a:xfrm>
          <a:prstGeom prst="rect">
            <a:avLst/>
          </a:prstGeom>
          <a:noFill/>
          <a:ln/>
        </p:spPr>
        <p:txBody>
          <a:bodyPr wrap="square" lIns="0" tIns="0" rIns="0" bIns="0" rtlCol="0" anchor="ctr"/>
          <a:lstStyle/>
          <a:p>
            <a:pPr indent="0" marL="0">
              <a:buNone/>
            </a:pPr>
            <a:r>
              <a:rPr lang="en-US" sz="1350" dirty="0">
                <a:solidFill>
                  <a:schemeClr val="tx1"/>
                </a:solidFill>
              </a:rPr>
              <a:t>Setup check and the premise. Everyone runs verify.py and sees PASS before anything starts.</a:t>
            </a:r>
            <a:endParaRPr lang="en-US" sz="1350" dirty="0"/>
          </a:p>
        </p:txBody>
      </p:sp>
      <p:sp>
        <p:nvSpPr>
          <p:cNvPr id="7" name="card-25"/>
          <p:cNvSpPr/>
          <p:nvPr/>
        </p:nvSpPr>
        <p:spPr>
          <a:xfrm>
            <a:off x="594360" y="2194560"/>
            <a:ext cx="10972800" cy="530352"/>
          </a:xfrm>
          <a:prstGeom prst="roundRect">
            <a:avLst>
              <a:gd name="adj" fmla="val 1379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8" name="rowt-26"/>
          <p:cNvSpPr txBox="1"/>
          <p:nvPr/>
        </p:nvSpPr>
        <p:spPr>
          <a:xfrm>
            <a:off x="868680" y="2258568"/>
            <a:ext cx="658368" cy="402336"/>
          </a:xfrm>
          <a:prstGeom prst="rect">
            <a:avLst/>
          </a:prstGeom>
          <a:noFill/>
          <a:ln/>
        </p:spPr>
        <p:txBody>
          <a:bodyPr wrap="square" lIns="0" tIns="0" rIns="0" bIns="0" rtlCol="0" anchor="ctr"/>
          <a:lstStyle/>
          <a:p>
            <a:pPr indent="0" marL="0">
              <a:buNone/>
            </a:pPr>
            <a:r>
              <a:rPr lang="en-US" sz="1500" b="1" dirty="0">
                <a:solidFill>
                  <a:schemeClr val="tx1"/>
                </a:solidFill>
              </a:rPr>
              <a:t>0:15</a:t>
            </a:r>
            <a:endParaRPr lang="en-US" sz="1500" dirty="0"/>
          </a:p>
        </p:txBody>
      </p:sp>
      <p:sp>
        <p:nvSpPr>
          <p:cNvPr id="9" name="rowd-27"/>
          <p:cNvSpPr txBox="1"/>
          <p:nvPr/>
        </p:nvSpPr>
        <p:spPr>
          <a:xfrm>
            <a:off x="1645920" y="2258568"/>
            <a:ext cx="777240" cy="402336"/>
          </a:xfrm>
          <a:prstGeom prst="rect">
            <a:avLst/>
          </a:prstGeom>
          <a:noFill/>
          <a:ln/>
        </p:spPr>
        <p:txBody>
          <a:bodyPr wrap="square" lIns="0" tIns="0" rIns="0" bIns="0" rtlCol="0" anchor="ctr"/>
          <a:lstStyle/>
          <a:p>
            <a:pPr indent="0" marL="0">
              <a:buNone/>
            </a:pPr>
            <a:r>
              <a:rPr lang="en-US" sz="1200" dirty="0">
                <a:solidFill>
                  <a:srgbClr val="6B7280"/>
                </a:solidFill>
              </a:rPr>
              <a:t>25 min</a:t>
            </a:r>
            <a:endParaRPr lang="en-US" sz="1200" dirty="0"/>
          </a:p>
        </p:txBody>
      </p:sp>
      <p:sp>
        <p:nvSpPr>
          <p:cNvPr id="10" name="rowb-28"/>
          <p:cNvSpPr txBox="1"/>
          <p:nvPr/>
        </p:nvSpPr>
        <p:spPr>
          <a:xfrm>
            <a:off x="2560320" y="2258568"/>
            <a:ext cx="8686800" cy="402336"/>
          </a:xfrm>
          <a:prstGeom prst="rect">
            <a:avLst/>
          </a:prstGeom>
          <a:noFill/>
          <a:ln/>
        </p:spPr>
        <p:txBody>
          <a:bodyPr wrap="square" lIns="0" tIns="0" rIns="0" bIns="0" rtlCol="0" anchor="ctr"/>
          <a:lstStyle/>
          <a:p>
            <a:pPr indent="0" marL="0">
              <a:buNone/>
            </a:pPr>
            <a:r>
              <a:rPr lang="en-US" sz="1350" dirty="0">
                <a:solidFill>
                  <a:schemeClr val="tx1"/>
                </a:solidFill>
              </a:rPr>
              <a:t>Build the quantiser. One provided test must go green. Nobody proceeds on a red test.</a:t>
            </a:r>
            <a:endParaRPr lang="en-US" sz="1350" dirty="0"/>
          </a:p>
        </p:txBody>
      </p:sp>
      <p:sp>
        <p:nvSpPr>
          <p:cNvPr id="11" name="card-29"/>
          <p:cNvSpPr/>
          <p:nvPr/>
        </p:nvSpPr>
        <p:spPr>
          <a:xfrm>
            <a:off x="594360" y="2816352"/>
            <a:ext cx="10972800" cy="530352"/>
          </a:xfrm>
          <a:prstGeom prst="roundRect">
            <a:avLst>
              <a:gd name="adj" fmla="val 1379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2" name="rowt-30"/>
          <p:cNvSpPr txBox="1"/>
          <p:nvPr/>
        </p:nvSpPr>
        <p:spPr>
          <a:xfrm>
            <a:off x="868680" y="2880360"/>
            <a:ext cx="658368" cy="402336"/>
          </a:xfrm>
          <a:prstGeom prst="rect">
            <a:avLst/>
          </a:prstGeom>
          <a:noFill/>
          <a:ln/>
        </p:spPr>
        <p:txBody>
          <a:bodyPr wrap="square" lIns="0" tIns="0" rIns="0" bIns="0" rtlCol="0" anchor="ctr"/>
          <a:lstStyle/>
          <a:p>
            <a:pPr indent="0" marL="0">
              <a:buNone/>
            </a:pPr>
            <a:r>
              <a:rPr lang="en-US" sz="1500" b="1" dirty="0">
                <a:solidFill>
                  <a:schemeClr val="tx1"/>
                </a:solidFill>
              </a:rPr>
              <a:t>0:40</a:t>
            </a:r>
            <a:endParaRPr lang="en-US" sz="1500" dirty="0"/>
          </a:p>
        </p:txBody>
      </p:sp>
      <p:sp>
        <p:nvSpPr>
          <p:cNvPr id="13" name="rowd-31"/>
          <p:cNvSpPr txBox="1"/>
          <p:nvPr/>
        </p:nvSpPr>
        <p:spPr>
          <a:xfrm>
            <a:off x="1645920" y="2880360"/>
            <a:ext cx="777240" cy="402336"/>
          </a:xfrm>
          <a:prstGeom prst="rect">
            <a:avLst/>
          </a:prstGeom>
          <a:noFill/>
          <a:ln/>
        </p:spPr>
        <p:txBody>
          <a:bodyPr wrap="square" lIns="0" tIns="0" rIns="0" bIns="0" rtlCol="0" anchor="ctr"/>
          <a:lstStyle/>
          <a:p>
            <a:pPr indent="0" marL="0">
              <a:buNone/>
            </a:pPr>
            <a:r>
              <a:rPr lang="en-US" sz="1200" dirty="0">
                <a:solidFill>
                  <a:srgbClr val="6B7280"/>
                </a:solidFill>
              </a:rPr>
              <a:t>20 min</a:t>
            </a:r>
            <a:endParaRPr lang="en-US" sz="1200" dirty="0"/>
          </a:p>
        </p:txBody>
      </p:sp>
      <p:sp>
        <p:nvSpPr>
          <p:cNvPr id="14" name="rowb-32"/>
          <p:cNvSpPr txBox="1"/>
          <p:nvPr/>
        </p:nvSpPr>
        <p:spPr>
          <a:xfrm>
            <a:off x="2560320" y="2880360"/>
            <a:ext cx="8686800" cy="402336"/>
          </a:xfrm>
          <a:prstGeom prst="rect">
            <a:avLst/>
          </a:prstGeom>
          <a:noFill/>
          <a:ln/>
        </p:spPr>
        <p:txBody>
          <a:bodyPr wrap="square" lIns="0" tIns="0" rIns="0" bIns="0" rtlCol="0" anchor="ctr"/>
          <a:lstStyle/>
          <a:p>
            <a:pPr indent="0" marL="0">
              <a:buNone/>
            </a:pPr>
            <a:r>
              <a:rPr lang="en-US" sz="1350" dirty="0">
                <a:solidFill>
                  <a:schemeClr val="tx1"/>
                </a:solidFill>
              </a:rPr>
              <a:t>Quantise a real checkpoint to eight bits. Generate text before and after. It still works.</a:t>
            </a:r>
            <a:endParaRPr lang="en-US" sz="1350" dirty="0"/>
          </a:p>
        </p:txBody>
      </p:sp>
      <p:sp>
        <p:nvSpPr>
          <p:cNvPr id="15" name="card-33"/>
          <p:cNvSpPr/>
          <p:nvPr/>
        </p:nvSpPr>
        <p:spPr>
          <a:xfrm>
            <a:off x="594360" y="3438144"/>
            <a:ext cx="10972800" cy="530352"/>
          </a:xfrm>
          <a:prstGeom prst="roundRect">
            <a:avLst>
              <a:gd name="adj" fmla="val 1379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6" name="rowt-34"/>
          <p:cNvSpPr txBox="1"/>
          <p:nvPr/>
        </p:nvSpPr>
        <p:spPr>
          <a:xfrm>
            <a:off x="868680" y="3502152"/>
            <a:ext cx="658368" cy="402336"/>
          </a:xfrm>
          <a:prstGeom prst="rect">
            <a:avLst/>
          </a:prstGeom>
          <a:noFill/>
          <a:ln/>
        </p:spPr>
        <p:txBody>
          <a:bodyPr wrap="square" lIns="0" tIns="0" rIns="0" bIns="0" rtlCol="0" anchor="ctr"/>
          <a:lstStyle/>
          <a:p>
            <a:pPr indent="0" marL="0">
              <a:buNone/>
            </a:pPr>
            <a:r>
              <a:rPr lang="en-US" sz="1500" b="1" dirty="0">
                <a:solidFill>
                  <a:srgbClr val="6B7280"/>
                </a:solidFill>
              </a:rPr>
              <a:t>1:00</a:t>
            </a:r>
            <a:endParaRPr lang="en-US" sz="1500" dirty="0"/>
          </a:p>
        </p:txBody>
      </p:sp>
      <p:sp>
        <p:nvSpPr>
          <p:cNvPr id="17" name="rowd-35"/>
          <p:cNvSpPr txBox="1"/>
          <p:nvPr/>
        </p:nvSpPr>
        <p:spPr>
          <a:xfrm>
            <a:off x="1645920" y="3502152"/>
            <a:ext cx="777240" cy="402336"/>
          </a:xfrm>
          <a:prstGeom prst="rect">
            <a:avLst/>
          </a:prstGeom>
          <a:noFill/>
          <a:ln/>
        </p:spPr>
        <p:txBody>
          <a:bodyPr wrap="square" lIns="0" tIns="0" rIns="0" bIns="0" rtlCol="0" anchor="ctr"/>
          <a:lstStyle/>
          <a:p>
            <a:pPr indent="0" marL="0">
              <a:buNone/>
            </a:pPr>
            <a:r>
              <a:rPr lang="en-US" sz="1200" dirty="0">
                <a:solidFill>
                  <a:srgbClr val="6B7280"/>
                </a:solidFill>
              </a:rPr>
              <a:t>10 min</a:t>
            </a:r>
            <a:endParaRPr lang="en-US" sz="1200" dirty="0"/>
          </a:p>
        </p:txBody>
      </p:sp>
      <p:sp>
        <p:nvSpPr>
          <p:cNvPr id="18" name="rowb-36"/>
          <p:cNvSpPr txBox="1"/>
          <p:nvPr/>
        </p:nvSpPr>
        <p:spPr>
          <a:xfrm>
            <a:off x="2560320" y="3502152"/>
            <a:ext cx="8686800" cy="402336"/>
          </a:xfrm>
          <a:prstGeom prst="rect">
            <a:avLst/>
          </a:prstGeom>
          <a:noFill/>
          <a:ln/>
        </p:spPr>
        <p:txBody>
          <a:bodyPr wrap="square" lIns="0" tIns="0" rIns="0" bIns="0" rtlCol="0" anchor="ctr"/>
          <a:lstStyle/>
          <a:p>
            <a:pPr indent="0" marL="0">
              <a:buNone/>
            </a:pPr>
            <a:r>
              <a:rPr lang="en-US" sz="1350" dirty="0">
                <a:solidFill>
                  <a:schemeClr val="tx1"/>
                </a:solidFill>
              </a:rPr>
              <a:t>Break.</a:t>
            </a:r>
            <a:endParaRPr lang="en-US" sz="1350" dirty="0"/>
          </a:p>
        </p:txBody>
      </p:sp>
      <p:sp>
        <p:nvSpPr>
          <p:cNvPr id="19" name="card-37"/>
          <p:cNvSpPr/>
          <p:nvPr/>
        </p:nvSpPr>
        <p:spPr>
          <a:xfrm>
            <a:off x="594360" y="4059936"/>
            <a:ext cx="10972800" cy="530352"/>
          </a:xfrm>
          <a:prstGeom prst="roundRect">
            <a:avLst>
              <a:gd name="adj" fmla="val 1379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20" name="rowt-38"/>
          <p:cNvSpPr txBox="1"/>
          <p:nvPr/>
        </p:nvSpPr>
        <p:spPr>
          <a:xfrm>
            <a:off x="868680" y="4123944"/>
            <a:ext cx="658368" cy="402336"/>
          </a:xfrm>
          <a:prstGeom prst="rect">
            <a:avLst/>
          </a:prstGeom>
          <a:noFill/>
          <a:ln/>
        </p:spPr>
        <p:txBody>
          <a:bodyPr wrap="square" lIns="0" tIns="0" rIns="0" bIns="0" rtlCol="0" anchor="ctr"/>
          <a:lstStyle/>
          <a:p>
            <a:pPr indent="0" marL="0">
              <a:buNone/>
            </a:pPr>
            <a:r>
              <a:rPr lang="en-US" sz="1500" b="1" dirty="0">
                <a:solidFill>
                  <a:srgbClr val="C0392B"/>
                </a:solidFill>
              </a:rPr>
              <a:t>1:10</a:t>
            </a:r>
            <a:endParaRPr lang="en-US" sz="1500" dirty="0"/>
          </a:p>
        </p:txBody>
      </p:sp>
      <p:sp>
        <p:nvSpPr>
          <p:cNvPr id="21" name="rowd-39"/>
          <p:cNvSpPr txBox="1"/>
          <p:nvPr/>
        </p:nvSpPr>
        <p:spPr>
          <a:xfrm>
            <a:off x="1645920" y="4123944"/>
            <a:ext cx="777240" cy="402336"/>
          </a:xfrm>
          <a:prstGeom prst="rect">
            <a:avLst/>
          </a:prstGeom>
          <a:noFill/>
          <a:ln/>
        </p:spPr>
        <p:txBody>
          <a:bodyPr wrap="square" lIns="0" tIns="0" rIns="0" bIns="0" rtlCol="0" anchor="ctr"/>
          <a:lstStyle/>
          <a:p>
            <a:pPr indent="0" marL="0">
              <a:buNone/>
            </a:pPr>
            <a:r>
              <a:rPr lang="en-US" sz="1200" dirty="0">
                <a:solidFill>
                  <a:srgbClr val="6B7280"/>
                </a:solidFill>
              </a:rPr>
              <a:t>40 min</a:t>
            </a:r>
            <a:endParaRPr lang="en-US" sz="1200" dirty="0"/>
          </a:p>
        </p:txBody>
      </p:sp>
      <p:sp>
        <p:nvSpPr>
          <p:cNvPr id="22" name="rowb-40"/>
          <p:cNvSpPr txBox="1"/>
          <p:nvPr/>
        </p:nvSpPr>
        <p:spPr>
          <a:xfrm>
            <a:off x="2560320" y="4123944"/>
            <a:ext cx="8686800" cy="402336"/>
          </a:xfrm>
          <a:prstGeom prst="rect">
            <a:avLst/>
          </a:prstGeom>
          <a:noFill/>
          <a:ln/>
        </p:spPr>
        <p:txBody>
          <a:bodyPr wrap="square" lIns="0" tIns="0" rIns="0" bIns="0" rtlCol="0" anchor="ctr"/>
          <a:lstStyle/>
          <a:p>
            <a:pPr indent="0" marL="0">
              <a:buNone/>
            </a:pPr>
            <a:r>
              <a:rPr lang="en-US" sz="1350" dirty="0">
                <a:solidFill>
                  <a:schemeClr val="tx1"/>
                </a:solidFill>
              </a:rPr>
              <a:t>Break it three ways, roughly twelve minutes each. Every break is a one line change.</a:t>
            </a:r>
            <a:endParaRPr lang="en-US" sz="1350" dirty="0"/>
          </a:p>
        </p:txBody>
      </p:sp>
      <p:sp>
        <p:nvSpPr>
          <p:cNvPr id="23" name="card-41"/>
          <p:cNvSpPr/>
          <p:nvPr/>
        </p:nvSpPr>
        <p:spPr>
          <a:xfrm>
            <a:off x="594360" y="4681728"/>
            <a:ext cx="10972800" cy="530352"/>
          </a:xfrm>
          <a:prstGeom prst="roundRect">
            <a:avLst>
              <a:gd name="adj" fmla="val 1379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24" name="rowt-42"/>
          <p:cNvSpPr txBox="1"/>
          <p:nvPr/>
        </p:nvSpPr>
        <p:spPr>
          <a:xfrm>
            <a:off x="868680" y="4745736"/>
            <a:ext cx="658368" cy="402336"/>
          </a:xfrm>
          <a:prstGeom prst="rect">
            <a:avLst/>
          </a:prstGeom>
          <a:noFill/>
          <a:ln/>
        </p:spPr>
        <p:txBody>
          <a:bodyPr wrap="square" lIns="0" tIns="0" rIns="0" bIns="0" rtlCol="0" anchor="ctr"/>
          <a:lstStyle/>
          <a:p>
            <a:pPr indent="0" marL="0">
              <a:buNone/>
            </a:pPr>
            <a:r>
              <a:rPr lang="en-US" sz="1500" b="1" dirty="0">
                <a:solidFill>
                  <a:schemeClr val="tx1"/>
                </a:solidFill>
              </a:rPr>
              <a:t>1:50</a:t>
            </a:r>
            <a:endParaRPr lang="en-US" sz="1500" dirty="0"/>
          </a:p>
        </p:txBody>
      </p:sp>
      <p:sp>
        <p:nvSpPr>
          <p:cNvPr id="25" name="rowd-43"/>
          <p:cNvSpPr txBox="1"/>
          <p:nvPr/>
        </p:nvSpPr>
        <p:spPr>
          <a:xfrm>
            <a:off x="1645920" y="4745736"/>
            <a:ext cx="777240" cy="402336"/>
          </a:xfrm>
          <a:prstGeom prst="rect">
            <a:avLst/>
          </a:prstGeom>
          <a:noFill/>
          <a:ln/>
        </p:spPr>
        <p:txBody>
          <a:bodyPr wrap="square" lIns="0" tIns="0" rIns="0" bIns="0" rtlCol="0" anchor="ctr"/>
          <a:lstStyle/>
          <a:p>
            <a:pPr indent="0" marL="0">
              <a:buNone/>
            </a:pPr>
            <a:r>
              <a:rPr lang="en-US" sz="1200" dirty="0">
                <a:solidFill>
                  <a:srgbClr val="6B7280"/>
                </a:solidFill>
              </a:rPr>
              <a:t>30 min</a:t>
            </a:r>
            <a:endParaRPr lang="en-US" sz="1200" dirty="0"/>
          </a:p>
        </p:txBody>
      </p:sp>
      <p:sp>
        <p:nvSpPr>
          <p:cNvPr id="26" name="rowb-44"/>
          <p:cNvSpPr txBox="1"/>
          <p:nvPr/>
        </p:nvSpPr>
        <p:spPr>
          <a:xfrm>
            <a:off x="2560320" y="4745736"/>
            <a:ext cx="8686800" cy="402336"/>
          </a:xfrm>
          <a:prstGeom prst="rect">
            <a:avLst/>
          </a:prstGeom>
          <a:noFill/>
          <a:ln/>
        </p:spPr>
        <p:txBody>
          <a:bodyPr wrap="square" lIns="0" tIns="0" rIns="0" bIns="0" rtlCol="0" anchor="ctr"/>
          <a:lstStyle/>
          <a:p>
            <a:pPr indent="0" marL="0">
              <a:buNone/>
            </a:pPr>
            <a:r>
              <a:rPr lang="en-US" sz="1350" dirty="0">
                <a:solidFill>
                  <a:schemeClr val="tx1"/>
                </a:solidFill>
              </a:rPr>
              <a:t>Diagnose from the weight distribution. Predict the break, then reveal.</a:t>
            </a:r>
            <a:endParaRPr lang="en-US" sz="1350" dirty="0"/>
          </a:p>
        </p:txBody>
      </p:sp>
      <p:sp>
        <p:nvSpPr>
          <p:cNvPr id="27" name="card-45"/>
          <p:cNvSpPr/>
          <p:nvPr/>
        </p:nvSpPr>
        <p:spPr>
          <a:xfrm>
            <a:off x="594360" y="5303520"/>
            <a:ext cx="10972800" cy="530352"/>
          </a:xfrm>
          <a:prstGeom prst="roundRect">
            <a:avLst>
              <a:gd name="adj" fmla="val 1379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28" name="rowt-46"/>
          <p:cNvSpPr txBox="1"/>
          <p:nvPr/>
        </p:nvSpPr>
        <p:spPr>
          <a:xfrm>
            <a:off x="868680" y="5367528"/>
            <a:ext cx="658368" cy="402336"/>
          </a:xfrm>
          <a:prstGeom prst="rect">
            <a:avLst/>
          </a:prstGeom>
          <a:noFill/>
          <a:ln/>
        </p:spPr>
        <p:txBody>
          <a:bodyPr wrap="square" lIns="0" tIns="0" rIns="0" bIns="0" rtlCol="0" anchor="ctr"/>
          <a:lstStyle/>
          <a:p>
            <a:pPr indent="0" marL="0">
              <a:buNone/>
            </a:pPr>
            <a:r>
              <a:rPr lang="en-US" sz="1500" b="1" dirty="0">
                <a:solidFill>
                  <a:srgbClr val="3FA796"/>
                </a:solidFill>
              </a:rPr>
              <a:t>2:20</a:t>
            </a:r>
            <a:endParaRPr lang="en-US" sz="1500" dirty="0"/>
          </a:p>
        </p:txBody>
      </p:sp>
      <p:sp>
        <p:nvSpPr>
          <p:cNvPr id="29" name="rowd-47"/>
          <p:cNvSpPr txBox="1"/>
          <p:nvPr/>
        </p:nvSpPr>
        <p:spPr>
          <a:xfrm>
            <a:off x="1645920" y="5367528"/>
            <a:ext cx="777240" cy="402336"/>
          </a:xfrm>
          <a:prstGeom prst="rect">
            <a:avLst/>
          </a:prstGeom>
          <a:noFill/>
          <a:ln/>
        </p:spPr>
        <p:txBody>
          <a:bodyPr wrap="square" lIns="0" tIns="0" rIns="0" bIns="0" rtlCol="0" anchor="ctr"/>
          <a:lstStyle/>
          <a:p>
            <a:pPr indent="0" marL="0">
              <a:buNone/>
            </a:pPr>
            <a:r>
              <a:rPr lang="en-US" sz="1200" dirty="0">
                <a:solidFill>
                  <a:srgbClr val="6B7280"/>
                </a:solidFill>
              </a:rPr>
              <a:t>40 min</a:t>
            </a:r>
            <a:endParaRPr lang="en-US" sz="1200" dirty="0"/>
          </a:p>
        </p:txBody>
      </p:sp>
      <p:sp>
        <p:nvSpPr>
          <p:cNvPr id="30" name="rowb-48"/>
          <p:cNvSpPr txBox="1"/>
          <p:nvPr/>
        </p:nvSpPr>
        <p:spPr>
          <a:xfrm>
            <a:off x="2560320" y="5367528"/>
            <a:ext cx="8686800" cy="402336"/>
          </a:xfrm>
          <a:prstGeom prst="rect">
            <a:avLst/>
          </a:prstGeom>
          <a:noFill/>
          <a:ln/>
        </p:spPr>
        <p:txBody>
          <a:bodyPr wrap="square" lIns="0" tIns="0" rIns="0" bIns="0" rtlCol="0" anchor="ctr"/>
          <a:lstStyle/>
          <a:p>
            <a:pPr indent="0" marL="0">
              <a:buNone/>
            </a:pPr>
            <a:r>
              <a:rPr lang="en-US" sz="1350" dirty="0">
                <a:solidFill>
                  <a:schemeClr val="tx1"/>
                </a:solidFill>
              </a:rPr>
              <a:t>Build the evaluation. Run it on all four models. Watch accuracy alone pass a broken one.</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The three things we break on purpose</a:t>
            </a:r>
            <a:endParaRPr lang="en-US" sz="3200" dirty="0"/>
          </a:p>
        </p:txBody>
      </p:sp>
      <p:sp>
        <p:nvSpPr>
          <p:cNvPr id="3" name="card-49"/>
          <p:cNvSpPr/>
          <p:nvPr/>
        </p:nvSpPr>
        <p:spPr>
          <a:xfrm>
            <a:off x="594360" y="1965960"/>
            <a:ext cx="3502152" cy="3154680"/>
          </a:xfrm>
          <a:prstGeom prst="roundRect">
            <a:avLst>
              <a:gd name="adj" fmla="val 2319"/>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tchead-50"/>
          <p:cNvSpPr txBox="1"/>
          <p:nvPr/>
        </p:nvSpPr>
        <p:spPr>
          <a:xfrm>
            <a:off x="905256" y="2185416"/>
            <a:ext cx="2880360" cy="512064"/>
          </a:xfrm>
          <a:prstGeom prst="rect">
            <a:avLst/>
          </a:prstGeom>
          <a:noFill/>
          <a:ln/>
        </p:spPr>
        <p:txBody>
          <a:bodyPr wrap="square" lIns="0" tIns="0" rIns="0" bIns="0" rtlCol="0" anchor="t"/>
          <a:lstStyle/>
          <a:p>
            <a:pPr indent="0" marL="0">
              <a:buNone/>
            </a:pPr>
            <a:r>
              <a:rPr lang="en-US" sz="1700" b="1" dirty="0">
                <a:solidFill>
                  <a:schemeClr val="accent5"/>
                </a:solidFill>
              </a:rPr>
              <a:t>The dead layer</a:t>
            </a:r>
            <a:endParaRPr lang="en-US" sz="1700" dirty="0"/>
          </a:p>
        </p:txBody>
      </p:sp>
      <p:sp>
        <p:nvSpPr>
          <p:cNvPr id="5" name="tcbody-51"/>
          <p:cNvSpPr txBox="1"/>
          <p:nvPr/>
        </p:nvSpPr>
        <p:spPr>
          <a:xfrm>
            <a:off x="905256" y="2752344"/>
            <a:ext cx="2880360" cy="2130552"/>
          </a:xfrm>
          <a:prstGeom prst="rect">
            <a:avLst/>
          </a:prstGeom>
          <a:noFill/>
          <a:ln/>
        </p:spPr>
        <p:txBody>
          <a:bodyPr wrap="square" lIns="0" tIns="0" rIns="0" bIns="0" rtlCol="0" anchor="t"/>
          <a:lstStyle/>
          <a:p>
            <a:pPr indent="0" marL="0">
              <a:buNone/>
            </a:pPr>
            <a:r>
              <a:rPr lang="en-US" sz="1350" dirty="0">
                <a:solidFill>
                  <a:schemeClr val="tx1"/>
                </a:solidFill>
              </a:rPr>
              <a:t>Quantise a freshly initialised wide layer at three bits. Every weight rounds to zero. The network is an exactly zero function and no gradient can revive it.</a:t>
            </a:r>
            <a:endParaRPr lang="en-US" sz="1350" dirty="0"/>
          </a:p>
          <a:p>
            <a:pPr indent="0" marL="0">
              <a:buNone/>
            </a:pPr>
            <a:endParaRPr lang="en-US" sz="1350" dirty="0"/>
          </a:p>
          <a:p>
            <a:pPr indent="0" marL="0">
              <a:buNone/>
            </a:pPr>
            <a:r>
              <a:rPr lang="en-US" sz="1350" dirty="0">
                <a:solidFill>
                  <a:schemeClr val="tx1"/>
                </a:solidFill>
              </a:rPr>
              <a:t>Looks like: a model that refuses to train.</a:t>
            </a:r>
            <a:endParaRPr lang="en-US" sz="1350" dirty="0"/>
          </a:p>
          <a:p>
            <a:pPr indent="0" marL="0">
              <a:buNone/>
            </a:pPr>
            <a:endParaRPr lang="en-US" sz="1350" dirty="0"/>
          </a:p>
          <a:p>
            <a:pPr indent="0" marL="0">
              <a:buNone/>
            </a:pPr>
            <a:r>
              <a:rPr lang="en-US" sz="1350" dirty="0">
                <a:solidFill>
                  <a:schemeClr val="tx1"/>
                </a:solidFill>
              </a:rPr>
              <a:t>Actually is: the scale sitting in the wrong place, not a precision limit.</a:t>
            </a:r>
            <a:endParaRPr lang="en-US" sz="1350" dirty="0"/>
          </a:p>
        </p:txBody>
      </p:sp>
      <p:sp>
        <p:nvSpPr>
          <p:cNvPr id="6" name="card-52"/>
          <p:cNvSpPr/>
          <p:nvPr/>
        </p:nvSpPr>
        <p:spPr>
          <a:xfrm>
            <a:off x="4325112" y="1965960"/>
            <a:ext cx="3502152" cy="3154680"/>
          </a:xfrm>
          <a:prstGeom prst="roundRect">
            <a:avLst>
              <a:gd name="adj" fmla="val 2319"/>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tchead-53"/>
          <p:cNvSpPr txBox="1"/>
          <p:nvPr/>
        </p:nvSpPr>
        <p:spPr>
          <a:xfrm>
            <a:off x="4636008" y="2185416"/>
            <a:ext cx="2880360" cy="512064"/>
          </a:xfrm>
          <a:prstGeom prst="rect">
            <a:avLst/>
          </a:prstGeom>
          <a:noFill/>
          <a:ln/>
        </p:spPr>
        <p:txBody>
          <a:bodyPr wrap="square" lIns="0" tIns="0" rIns="0" bIns="0" rtlCol="0" anchor="t"/>
          <a:lstStyle/>
          <a:p>
            <a:pPr indent="0" marL="0">
              <a:buNone/>
            </a:pPr>
            <a:r>
              <a:rPr lang="en-US" sz="1700" b="1" dirty="0">
                <a:solidFill>
                  <a:schemeClr val="accent5"/>
                </a:solidFill>
              </a:rPr>
              <a:t>The outlier clip</a:t>
            </a:r>
            <a:endParaRPr lang="en-US" sz="1700" dirty="0"/>
          </a:p>
        </p:txBody>
      </p:sp>
      <p:sp>
        <p:nvSpPr>
          <p:cNvPr id="8" name="tcbody-54"/>
          <p:cNvSpPr txBox="1"/>
          <p:nvPr/>
        </p:nvSpPr>
        <p:spPr>
          <a:xfrm>
            <a:off x="4636008" y="2752344"/>
            <a:ext cx="2880360" cy="2130552"/>
          </a:xfrm>
          <a:prstGeom prst="rect">
            <a:avLst/>
          </a:prstGeom>
          <a:noFill/>
          <a:ln/>
        </p:spPr>
        <p:txBody>
          <a:bodyPr wrap="square" lIns="0" tIns="0" rIns="0" bIns="0" rtlCol="0" anchor="t"/>
          <a:lstStyle/>
          <a:p>
            <a:pPr indent="0" marL="0">
              <a:buNone/>
            </a:pPr>
            <a:r>
              <a:rPr lang="en-US" sz="1350" dirty="0">
                <a:solidFill>
                  <a:schemeClr val="tx1"/>
                </a:solidFill>
              </a:rPr>
              <a:t>Quantise the two projection matrices that no normalisation layer feeds, without giving them a scale. Validation loss goes from 2.53 to 7.73.</a:t>
            </a:r>
            <a:endParaRPr lang="en-US" sz="1350" dirty="0"/>
          </a:p>
          <a:p>
            <a:pPr indent="0" marL="0">
              <a:buNone/>
            </a:pPr>
            <a:endParaRPr lang="en-US" sz="1350" dirty="0"/>
          </a:p>
          <a:p>
            <a:pPr indent="0" marL="0">
              <a:buNone/>
            </a:pPr>
            <a:r>
              <a:rPr lang="en-US" sz="1350" dirty="0">
                <a:solidFill>
                  <a:schemeClr val="tx1"/>
                </a:solidFill>
              </a:rPr>
              <a:t>Looks like: not enough bits.</a:t>
            </a:r>
            <a:endParaRPr lang="en-US" sz="1350" dirty="0"/>
          </a:p>
          <a:p>
            <a:pPr indent="0" marL="0">
              <a:buNone/>
            </a:pPr>
            <a:endParaRPr lang="en-US" sz="1350" dirty="0"/>
          </a:p>
          <a:p>
            <a:pPr indent="0" marL="0">
              <a:buNone/>
            </a:pPr>
            <a:r>
              <a:rPr lang="en-US" sz="1350" dirty="0">
                <a:solidFill>
                  <a:schemeClr val="tx1"/>
                </a:solidFill>
              </a:rPr>
              <a:t>Actually is: a few hundred clipped weights, at sixteen bits, where the grid step is three in a hundred thousand.</a:t>
            </a:r>
            <a:endParaRPr lang="en-US" sz="1350" dirty="0"/>
          </a:p>
        </p:txBody>
      </p:sp>
      <p:sp>
        <p:nvSpPr>
          <p:cNvPr id="9" name="card-55"/>
          <p:cNvSpPr/>
          <p:nvPr/>
        </p:nvSpPr>
        <p:spPr>
          <a:xfrm>
            <a:off x="8065008" y="1965960"/>
            <a:ext cx="3502152" cy="3154680"/>
          </a:xfrm>
          <a:prstGeom prst="roundRect">
            <a:avLst>
              <a:gd name="adj" fmla="val 2319"/>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tchead-56"/>
          <p:cNvSpPr txBox="1"/>
          <p:nvPr/>
        </p:nvSpPr>
        <p:spPr>
          <a:xfrm>
            <a:off x="8375904" y="2185416"/>
            <a:ext cx="2880360" cy="512064"/>
          </a:xfrm>
          <a:prstGeom prst="rect">
            <a:avLst/>
          </a:prstGeom>
          <a:noFill/>
          <a:ln/>
        </p:spPr>
        <p:txBody>
          <a:bodyPr wrap="square" lIns="0" tIns="0" rIns="0" bIns="0" rtlCol="0" anchor="t"/>
          <a:lstStyle/>
          <a:p>
            <a:pPr indent="0" marL="0">
              <a:buNone/>
            </a:pPr>
            <a:r>
              <a:rPr lang="en-US" sz="1700" b="1" dirty="0">
                <a:solidFill>
                  <a:schemeClr val="accent5"/>
                </a:solidFill>
              </a:rPr>
              <a:t>The silent one</a:t>
            </a:r>
            <a:endParaRPr lang="en-US" sz="1700" dirty="0"/>
          </a:p>
        </p:txBody>
      </p:sp>
      <p:sp>
        <p:nvSpPr>
          <p:cNvPr id="11" name="tcbody-57"/>
          <p:cNvSpPr txBox="1"/>
          <p:nvPr/>
        </p:nvSpPr>
        <p:spPr>
          <a:xfrm>
            <a:off x="8375904" y="2752344"/>
            <a:ext cx="2880360" cy="2130552"/>
          </a:xfrm>
          <a:prstGeom prst="rect">
            <a:avLst/>
          </a:prstGeom>
          <a:noFill/>
          <a:ln/>
        </p:spPr>
        <p:txBody>
          <a:bodyPr wrap="square" lIns="0" tIns="0" rIns="0" bIns="0" rtlCol="0" anchor="t"/>
          <a:lstStyle/>
          <a:p>
            <a:pPr indent="0" marL="0">
              <a:buNone/>
            </a:pPr>
            <a:r>
              <a:rPr lang="en-US" sz="1350" dirty="0">
                <a:solidFill>
                  <a:schemeClr val="tx1"/>
                </a:solidFill>
              </a:rPr>
              <a:t>Quantise too far, then score it the obvious way. The model stops producing output and the benchmark rewards it for being cautious.</a:t>
            </a:r>
            <a:endParaRPr lang="en-US" sz="1350" dirty="0"/>
          </a:p>
          <a:p>
            <a:pPr indent="0" marL="0">
              <a:buNone/>
            </a:pPr>
            <a:endParaRPr lang="en-US" sz="1350" dirty="0"/>
          </a:p>
          <a:p>
            <a:pPr indent="0" marL="0">
              <a:buNone/>
            </a:pPr>
            <a:r>
              <a:rPr lang="en-US" sz="1350" dirty="0">
                <a:solidFill>
                  <a:schemeClr val="tx1"/>
                </a:solidFill>
              </a:rPr>
              <a:t>Looks like: a mediocre result.</a:t>
            </a:r>
            <a:endParaRPr lang="en-US" sz="1350" dirty="0"/>
          </a:p>
          <a:p>
            <a:pPr indent="0" marL="0">
              <a:buNone/>
            </a:pPr>
            <a:endParaRPr lang="en-US" sz="1350" dirty="0"/>
          </a:p>
          <a:p>
            <a:pPr indent="0" marL="0">
              <a:buNone/>
            </a:pPr>
            <a:r>
              <a:rPr lang="en-US" sz="1350" dirty="0">
                <a:solidFill>
                  <a:schemeClr val="tx1"/>
                </a:solidFill>
              </a:rPr>
              <a:t>Actually is: a dead model, and a metric that cannot tell the difference.</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Three numbers, three diagnoses</a:t>
            </a:r>
            <a:endParaRPr lang="en-US" sz="3200" dirty="0"/>
          </a:p>
        </p:txBody>
      </p:sp>
      <p:sp>
        <p:nvSpPr>
          <p:cNvPr id="3" name="stat-58"/>
          <p:cNvSpPr txBox="1"/>
          <p:nvPr/>
        </p:nvSpPr>
        <p:spPr>
          <a:xfrm>
            <a:off x="594360" y="1783080"/>
            <a:ext cx="3291840" cy="731520"/>
          </a:xfrm>
          <a:prstGeom prst="rect">
            <a:avLst/>
          </a:prstGeom>
          <a:noFill/>
          <a:ln/>
        </p:spPr>
        <p:txBody>
          <a:bodyPr wrap="square" lIns="0" tIns="0" rIns="0" bIns="0" rtlCol="0" anchor="ctr"/>
          <a:lstStyle/>
          <a:p>
            <a:pPr algn="l" indent="0" marL="0">
              <a:buNone/>
            </a:pPr>
            <a:r>
              <a:rPr lang="en-US" sz="4600" b="1" dirty="0">
                <a:solidFill>
                  <a:schemeClr val="accent1"/>
                </a:solidFill>
              </a:rPr>
              <a:t>100%</a:t>
            </a:r>
            <a:endParaRPr lang="en-US" sz="4600" dirty="0"/>
          </a:p>
        </p:txBody>
      </p:sp>
      <p:sp>
        <p:nvSpPr>
          <p:cNvPr id="4" name="statlbl-59"/>
          <p:cNvSpPr txBox="1"/>
          <p:nvPr/>
        </p:nvSpPr>
        <p:spPr>
          <a:xfrm>
            <a:off x="594360" y="2514600"/>
            <a:ext cx="3291840" cy="868680"/>
          </a:xfrm>
          <a:prstGeom prst="rect">
            <a:avLst/>
          </a:prstGeom>
          <a:noFill/>
          <a:ln/>
        </p:spPr>
        <p:txBody>
          <a:bodyPr wrap="square" lIns="0" tIns="0" rIns="0" bIns="0" rtlCol="0" anchor="t"/>
          <a:lstStyle/>
          <a:p>
            <a:pPr algn="l" indent="0" marL="0">
              <a:buNone/>
            </a:pPr>
            <a:r>
              <a:rPr lang="en-US" sz="1300" dirty="0">
                <a:solidFill>
                  <a:schemeClr val="tx1"/>
                </a:solidFill>
              </a:rPr>
              <a:t>of weights in a wide layer round to zero at three bits. Count the zeros and the dead layer announces itself in one line.</a:t>
            </a:r>
            <a:endParaRPr lang="en-US" sz="1300" dirty="0"/>
          </a:p>
        </p:txBody>
      </p:sp>
      <p:sp>
        <p:nvSpPr>
          <p:cNvPr id="5" name="stat-60"/>
          <p:cNvSpPr txBox="1"/>
          <p:nvPr/>
        </p:nvSpPr>
        <p:spPr>
          <a:xfrm>
            <a:off x="4343400" y="1783080"/>
            <a:ext cx="3291840" cy="731520"/>
          </a:xfrm>
          <a:prstGeom prst="rect">
            <a:avLst/>
          </a:prstGeom>
          <a:noFill/>
          <a:ln/>
        </p:spPr>
        <p:txBody>
          <a:bodyPr wrap="square" lIns="0" tIns="0" rIns="0" bIns="0" rtlCol="0" anchor="ctr"/>
          <a:lstStyle/>
          <a:p>
            <a:pPr algn="l" indent="0" marL="0">
              <a:buNone/>
            </a:pPr>
            <a:r>
              <a:rPr lang="en-US" sz="4600" b="1" dirty="0">
                <a:solidFill>
                  <a:schemeClr val="accent5"/>
                </a:solidFill>
              </a:rPr>
              <a:t>7.47</a:t>
            </a:r>
            <a:endParaRPr lang="en-US" sz="4600" dirty="0"/>
          </a:p>
        </p:txBody>
      </p:sp>
      <p:sp>
        <p:nvSpPr>
          <p:cNvPr id="6" name="statlbl-61"/>
          <p:cNvSpPr txBox="1"/>
          <p:nvPr/>
        </p:nvSpPr>
        <p:spPr>
          <a:xfrm>
            <a:off x="4343400" y="2514600"/>
            <a:ext cx="3291840" cy="868680"/>
          </a:xfrm>
          <a:prstGeom prst="rect">
            <a:avLst/>
          </a:prstGeom>
          <a:noFill/>
          <a:ln/>
        </p:spPr>
        <p:txBody>
          <a:bodyPr wrap="square" lIns="0" tIns="0" rIns="0" bIns="0" rtlCol="0" anchor="t"/>
          <a:lstStyle/>
          <a:p>
            <a:pPr algn="l" indent="0" marL="0">
              <a:buNone/>
            </a:pPr>
            <a:r>
              <a:rPr lang="en-US" sz="1300" dirty="0">
                <a:solidFill>
                  <a:schemeClr val="tx1"/>
                </a:solidFill>
              </a:rPr>
              <a:t>the largest weight in a checkpoint everyone assumes is bounded by one. Take a per channel max and the outlier clip is obvious.</a:t>
            </a:r>
            <a:endParaRPr lang="en-US" sz="1300" dirty="0"/>
          </a:p>
        </p:txBody>
      </p:sp>
      <p:sp>
        <p:nvSpPr>
          <p:cNvPr id="7" name="stat-62"/>
          <p:cNvSpPr txBox="1"/>
          <p:nvPr/>
        </p:nvSpPr>
        <p:spPr>
          <a:xfrm>
            <a:off x="8092440" y="1783080"/>
            <a:ext cx="3291840" cy="731520"/>
          </a:xfrm>
          <a:prstGeom prst="rect">
            <a:avLst/>
          </a:prstGeom>
          <a:noFill/>
          <a:ln/>
        </p:spPr>
        <p:txBody>
          <a:bodyPr wrap="square" lIns="0" tIns="0" rIns="0" bIns="0" rtlCol="0" anchor="ctr"/>
          <a:lstStyle/>
          <a:p>
            <a:pPr algn="l" indent="0" marL="0">
              <a:buNone/>
            </a:pPr>
            <a:r>
              <a:rPr lang="en-US" sz="4600" b="1" dirty="0">
                <a:solidFill>
                  <a:schemeClr val="accent6"/>
                </a:solidFill>
              </a:rPr>
              <a:t>1.2%</a:t>
            </a:r>
            <a:endParaRPr lang="en-US" sz="4600" dirty="0"/>
          </a:p>
        </p:txBody>
      </p:sp>
      <p:sp>
        <p:nvSpPr>
          <p:cNvPr id="8" name="statlbl-63"/>
          <p:cNvSpPr txBox="1"/>
          <p:nvPr/>
        </p:nvSpPr>
        <p:spPr>
          <a:xfrm>
            <a:off x="8092440" y="2514600"/>
            <a:ext cx="3291840" cy="868680"/>
          </a:xfrm>
          <a:prstGeom prst="rect">
            <a:avLst/>
          </a:prstGeom>
          <a:noFill/>
          <a:ln/>
        </p:spPr>
        <p:txBody>
          <a:bodyPr wrap="square" lIns="0" tIns="0" rIns="0" bIns="0" rtlCol="0" anchor="t"/>
          <a:lstStyle/>
          <a:p>
            <a:pPr algn="l" indent="0" marL="0">
              <a:buNone/>
            </a:pPr>
            <a:r>
              <a:rPr lang="en-US" sz="1300" dirty="0">
                <a:solidFill>
                  <a:schemeClr val="tx1"/>
                </a:solidFill>
              </a:rPr>
              <a:t>of prompts a broken model still answered, while scoring a perfect 100 on one benchmark category. Count attempts, not just successes.</a:t>
            </a:r>
            <a:endParaRPr lang="en-US" sz="1300" dirty="0"/>
          </a:p>
        </p:txBody>
      </p:sp>
      <p:sp>
        <p:nvSpPr>
          <p:cNvPr id="9" name="card-64"/>
          <p:cNvSpPr/>
          <p:nvPr/>
        </p:nvSpPr>
        <p:spPr>
          <a:xfrm>
            <a:off x="594360" y="4160520"/>
            <a:ext cx="10972800" cy="1463040"/>
          </a:xfrm>
          <a:prstGeom prst="roundRect">
            <a:avLst>
              <a:gd name="adj" fmla="val 5000"/>
            </a:avLst>
          </a:prstGeom>
          <a:solidFill>
            <a:schemeClr val="tx2"/>
          </a:solidFill>
          <a:ln w="12700">
            <a:solidFill>
              <a:schemeClr val="tx2"/>
            </a:solidFill>
            <a:prstDash val="solid"/>
          </a:ln>
        </p:spPr>
      </p:sp>
      <p:sp>
        <p:nvSpPr>
          <p:cNvPr id="10" name="q1-65"/>
          <p:cNvSpPr txBox="1"/>
          <p:nvPr/>
        </p:nvSpPr>
        <p:spPr>
          <a:xfrm>
            <a:off x="1005840" y="4370832"/>
            <a:ext cx="10149840" cy="457200"/>
          </a:xfrm>
          <a:prstGeom prst="rect">
            <a:avLst/>
          </a:prstGeom>
          <a:noFill/>
          <a:ln/>
        </p:spPr>
        <p:txBody>
          <a:bodyPr wrap="square" lIns="0" tIns="0" rIns="0" bIns="0" rtlCol="0" anchor="ctr"/>
          <a:lstStyle/>
          <a:p>
            <a:pPr indent="0" marL="0">
              <a:buNone/>
            </a:pPr>
            <a:r>
              <a:rPr lang="en-US" sz="2200" b="1" dirty="0">
                <a:solidFill>
                  <a:schemeClr val="bg1"/>
                </a:solidFill>
              </a:rPr>
              <a:t>Every diagnosis in this workshop is a histogram or a counter.</a:t>
            </a:r>
            <a:endParaRPr lang="en-US" sz="2200" dirty="0"/>
          </a:p>
        </p:txBody>
      </p:sp>
      <p:sp>
        <p:nvSpPr>
          <p:cNvPr id="11" name="q1s-66"/>
          <p:cNvSpPr txBox="1"/>
          <p:nvPr/>
        </p:nvSpPr>
        <p:spPr>
          <a:xfrm>
            <a:off x="1005840" y="4828032"/>
            <a:ext cx="10149840" cy="594360"/>
          </a:xfrm>
          <a:prstGeom prst="rect">
            <a:avLst/>
          </a:prstGeom>
          <a:noFill/>
          <a:ln/>
        </p:spPr>
        <p:txBody>
          <a:bodyPr wrap="square" lIns="0" tIns="0" rIns="0" bIns="0" rtlCol="0" anchor="ctr"/>
          <a:lstStyle/>
          <a:p>
            <a:pPr indent="0" marL="0">
              <a:buNone/>
            </a:pPr>
            <a:r>
              <a:rPr lang="en-US" sz="1400" dirty="0">
                <a:solidFill>
                  <a:srgbClr val="8A93A6"/>
                </a:solidFill>
              </a:rPr>
              <a:t>Nobody needs to interpret generated text, which is the part that normally goes wrong in a room with mixed experience. The signal is a number that is obviously right or obviously not.</a:t>
            </a:r>
            <a:endParaRPr lang="en-US" sz="14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What it takes to run on a laptop</a:t>
            </a:r>
            <a:endParaRPr lang="en-US" sz="3200" dirty="0"/>
          </a:p>
        </p:txBody>
      </p:sp>
      <p:sp>
        <p:nvSpPr>
          <p:cNvPr id="3" name="card-67"/>
          <p:cNvSpPr/>
          <p:nvPr/>
        </p:nvSpPr>
        <p:spPr>
          <a:xfrm>
            <a:off x="594360" y="164592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tchead-68"/>
          <p:cNvSpPr txBox="1"/>
          <p:nvPr/>
        </p:nvSpPr>
        <p:spPr>
          <a:xfrm>
            <a:off x="905256" y="1865376"/>
            <a:ext cx="4727448" cy="512064"/>
          </a:xfrm>
          <a:prstGeom prst="rect">
            <a:avLst/>
          </a:prstGeom>
          <a:noFill/>
          <a:ln/>
        </p:spPr>
        <p:txBody>
          <a:bodyPr wrap="square" lIns="0" tIns="0" rIns="0" bIns="0" rtlCol="0" anchor="t"/>
          <a:lstStyle/>
          <a:p>
            <a:pPr indent="0" marL="0">
              <a:buNone/>
            </a:pPr>
            <a:r>
              <a:rPr lang="en-US" sz="1700" b="1" dirty="0">
                <a:solidFill>
                  <a:schemeClr val="tx1"/>
                </a:solidFill>
              </a:rPr>
              <a:t>What participants need</a:t>
            </a:r>
            <a:endParaRPr lang="en-US" sz="1700" dirty="0"/>
          </a:p>
        </p:txBody>
      </p:sp>
      <p:sp>
        <p:nvSpPr>
          <p:cNvPr id="5" name="tcbody-69"/>
          <p:cNvSpPr txBox="1"/>
          <p:nvPr/>
        </p:nvSpPr>
        <p:spPr>
          <a:xfrm>
            <a:off x="905256" y="2432304"/>
            <a:ext cx="4727448" cy="896112"/>
          </a:xfrm>
          <a:prstGeom prst="rect">
            <a:avLst/>
          </a:prstGeom>
          <a:noFill/>
          <a:ln/>
        </p:spPr>
        <p:txBody>
          <a:bodyPr wrap="square" lIns="0" tIns="0" rIns="0" bIns="0" rtlCol="0" anchor="t"/>
          <a:lstStyle/>
          <a:p>
            <a:pPr indent="0" marL="0">
              <a:buNone/>
            </a:pPr>
            <a:r>
              <a:rPr lang="en-US" sz="1350" dirty="0">
                <a:solidFill>
                  <a:schemeClr val="tx1"/>
                </a:solidFill>
              </a:rPr>
              <a:t>Python 3.10 or newer, PyTorch, NumPy, Matplotlib. A setup script pins all of it. Total install is under five minutes on a normal connection.</a:t>
            </a:r>
            <a:endParaRPr lang="en-US" sz="1350" dirty="0"/>
          </a:p>
        </p:txBody>
      </p:sp>
      <p:sp>
        <p:nvSpPr>
          <p:cNvPr id="6" name="card-70"/>
          <p:cNvSpPr/>
          <p:nvPr/>
        </p:nvSpPr>
        <p:spPr>
          <a:xfrm>
            <a:off x="6217920" y="164592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tchead-71"/>
          <p:cNvSpPr txBox="1"/>
          <p:nvPr/>
        </p:nvSpPr>
        <p:spPr>
          <a:xfrm>
            <a:off x="6528816" y="1865376"/>
            <a:ext cx="4727448" cy="512064"/>
          </a:xfrm>
          <a:prstGeom prst="rect">
            <a:avLst/>
          </a:prstGeom>
          <a:noFill/>
          <a:ln/>
        </p:spPr>
        <p:txBody>
          <a:bodyPr wrap="square" lIns="0" tIns="0" rIns="0" bIns="0" rtlCol="0" anchor="t"/>
          <a:lstStyle/>
          <a:p>
            <a:pPr indent="0" marL="0">
              <a:buNone/>
            </a:pPr>
            <a:r>
              <a:rPr lang="en-US" sz="1700" b="1" dirty="0">
                <a:solidFill>
                  <a:schemeClr val="accent2"/>
                </a:solidFill>
              </a:rPr>
              <a:t>What they do not need</a:t>
            </a:r>
            <a:endParaRPr lang="en-US" sz="1700" dirty="0"/>
          </a:p>
        </p:txBody>
      </p:sp>
      <p:sp>
        <p:nvSpPr>
          <p:cNvPr id="8" name="tcbody-72"/>
          <p:cNvSpPr txBox="1"/>
          <p:nvPr/>
        </p:nvSpPr>
        <p:spPr>
          <a:xfrm>
            <a:off x="6528816" y="2432304"/>
            <a:ext cx="4727448" cy="896112"/>
          </a:xfrm>
          <a:prstGeom prst="rect">
            <a:avLst/>
          </a:prstGeom>
          <a:noFill/>
          <a:ln/>
        </p:spPr>
        <p:txBody>
          <a:bodyPr wrap="square" lIns="0" tIns="0" rIns="0" bIns="0" rtlCol="0" anchor="t"/>
          <a:lstStyle/>
          <a:p>
            <a:pPr indent="0" marL="0">
              <a:buNone/>
            </a:pPr>
            <a:r>
              <a:rPr lang="en-US" sz="1350" dirty="0">
                <a:solidFill>
                  <a:schemeClr val="tx1"/>
                </a:solidFill>
              </a:rPr>
              <a:t>No GPU. No cloud account. No vendor licence. No dataset download. The whole session is under ten minutes of actual compute, all of it on CPU.</a:t>
            </a:r>
            <a:endParaRPr lang="en-US" sz="1350" dirty="0"/>
          </a:p>
        </p:txBody>
      </p:sp>
      <p:sp>
        <p:nvSpPr>
          <p:cNvPr id="9" name="card-73"/>
          <p:cNvSpPr/>
          <p:nvPr/>
        </p:nvSpPr>
        <p:spPr>
          <a:xfrm>
            <a:off x="594360" y="379476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tchead-74"/>
          <p:cNvSpPr txBox="1"/>
          <p:nvPr/>
        </p:nvSpPr>
        <p:spPr>
          <a:xfrm>
            <a:off x="905256" y="4014216"/>
            <a:ext cx="4727448" cy="512064"/>
          </a:xfrm>
          <a:prstGeom prst="rect">
            <a:avLst/>
          </a:prstGeom>
          <a:noFill/>
          <a:ln/>
        </p:spPr>
        <p:txBody>
          <a:bodyPr wrap="square" lIns="0" tIns="0" rIns="0" bIns="0" rtlCol="0" anchor="t"/>
          <a:lstStyle/>
          <a:p>
            <a:pPr indent="0" marL="0">
              <a:buNone/>
            </a:pPr>
            <a:r>
              <a:rPr lang="en-US" sz="1700" b="1" dirty="0">
                <a:solidFill>
                  <a:schemeClr val="tx1"/>
                </a:solidFill>
              </a:rPr>
              <a:t>The model</a:t>
            </a:r>
            <a:endParaRPr lang="en-US" sz="1700" dirty="0"/>
          </a:p>
        </p:txBody>
      </p:sp>
      <p:sp>
        <p:nvSpPr>
          <p:cNvPr id="11" name="tcbody-75"/>
          <p:cNvSpPr txBox="1"/>
          <p:nvPr/>
        </p:nvSpPr>
        <p:spPr>
          <a:xfrm>
            <a:off x="905256" y="4581144"/>
            <a:ext cx="4727448" cy="896112"/>
          </a:xfrm>
          <a:prstGeom prst="rect">
            <a:avLst/>
          </a:prstGeom>
          <a:noFill/>
          <a:ln/>
        </p:spPr>
        <p:txBody>
          <a:bodyPr wrap="square" lIns="0" tIns="0" rIns="0" bIns="0" rtlCol="0" anchor="t"/>
          <a:lstStyle/>
          <a:p>
            <a:pPr indent="0" marL="0">
              <a:buNone/>
            </a:pPr>
            <a:r>
              <a:rPr lang="en-US" sz="1350" dirty="0">
                <a:solidFill>
                  <a:schemeClr val="tx1"/>
                </a:solidFill>
              </a:rPr>
              <a:t>One small open weight checkpoint, around 150 MB, pinned by revision and cached by the setup script. Small enough to quantise in seconds, real enough that the failures are the real failures.</a:t>
            </a:r>
            <a:endParaRPr lang="en-US" sz="1350" dirty="0"/>
          </a:p>
        </p:txBody>
      </p:sp>
      <p:sp>
        <p:nvSpPr>
          <p:cNvPr id="12" name="card-76"/>
          <p:cNvSpPr/>
          <p:nvPr/>
        </p:nvSpPr>
        <p:spPr>
          <a:xfrm>
            <a:off x="6217920" y="379476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3" name="tchead-77"/>
          <p:cNvSpPr txBox="1"/>
          <p:nvPr/>
        </p:nvSpPr>
        <p:spPr>
          <a:xfrm>
            <a:off x="6528816" y="4014216"/>
            <a:ext cx="4727448" cy="512064"/>
          </a:xfrm>
          <a:prstGeom prst="rect">
            <a:avLst/>
          </a:prstGeom>
          <a:noFill/>
          <a:ln/>
        </p:spPr>
        <p:txBody>
          <a:bodyPr wrap="square" lIns="0" tIns="0" rIns="0" bIns="0" rtlCol="0" anchor="t"/>
          <a:lstStyle/>
          <a:p>
            <a:pPr indent="0" marL="0">
              <a:buNone/>
            </a:pPr>
            <a:r>
              <a:rPr lang="en-US" sz="1700" b="1" dirty="0">
                <a:solidFill>
                  <a:schemeClr val="accent6"/>
                </a:solidFill>
              </a:rPr>
              <a:t>The fallback</a:t>
            </a:r>
            <a:endParaRPr lang="en-US" sz="1700" dirty="0"/>
          </a:p>
        </p:txBody>
      </p:sp>
      <p:sp>
        <p:nvSpPr>
          <p:cNvPr id="14" name="tcbody-78"/>
          <p:cNvSpPr txBox="1"/>
          <p:nvPr/>
        </p:nvSpPr>
        <p:spPr>
          <a:xfrm>
            <a:off x="6528816" y="4581144"/>
            <a:ext cx="4727448" cy="896112"/>
          </a:xfrm>
          <a:prstGeom prst="rect">
            <a:avLst/>
          </a:prstGeom>
          <a:noFill/>
          <a:ln/>
        </p:spPr>
        <p:txBody>
          <a:bodyPr wrap="square" lIns="0" tIns="0" rIns="0" bIns="0" rtlCol="0" anchor="t"/>
          <a:lstStyle/>
          <a:p>
            <a:pPr indent="0" marL="0">
              <a:buNone/>
            </a:pPr>
            <a:r>
              <a:rPr lang="en-US" sz="1350" dirty="0">
                <a:solidFill>
                  <a:schemeClr val="tx1"/>
                </a:solidFill>
              </a:rPr>
              <a:t>An identical Colab notebook, cell for cell. Anyone whose local Python fights them moves there in under a minute and loses nothing.</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Keeping thirty people in the same place</a:t>
            </a:r>
            <a:endParaRPr lang="en-US" sz="3200" dirty="0"/>
          </a:p>
        </p:txBody>
      </p:sp>
      <p:sp>
        <p:nvSpPr>
          <p:cNvPr id="3" name="card-79"/>
          <p:cNvSpPr/>
          <p:nvPr/>
        </p:nvSpPr>
        <p:spPr>
          <a:xfrm>
            <a:off x="594360" y="164592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dot-80"/>
          <p:cNvSpPr/>
          <p:nvPr/>
        </p:nvSpPr>
        <p:spPr>
          <a:xfrm>
            <a:off x="868680" y="1901952"/>
            <a:ext cx="420624" cy="420624"/>
          </a:xfrm>
          <a:prstGeom prst="ellipse">
            <a:avLst/>
          </a:prstGeom>
          <a:solidFill>
            <a:schemeClr val="accent6"/>
          </a:solidFill>
          <a:ln w="12700">
            <a:solidFill>
              <a:schemeClr val="accent6"/>
            </a:solidFill>
            <a:prstDash val="solid"/>
          </a:ln>
        </p:spPr>
      </p:sp>
      <p:sp>
        <p:nvSpPr>
          <p:cNvPr id="5" name="dotnum-81"/>
          <p:cNvSpPr txBox="1"/>
          <p:nvPr/>
        </p:nvSpPr>
        <p:spPr>
          <a:xfrm>
            <a:off x="868680" y="19019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cardhead-82"/>
          <p:cNvSpPr txBox="1"/>
          <p:nvPr/>
        </p:nvSpPr>
        <p:spPr>
          <a:xfrm>
            <a:off x="1435608" y="1865376"/>
            <a:ext cx="4206240" cy="512064"/>
          </a:xfrm>
          <a:prstGeom prst="rect">
            <a:avLst/>
          </a:prstGeom>
          <a:noFill/>
          <a:ln/>
        </p:spPr>
        <p:txBody>
          <a:bodyPr wrap="square" lIns="0" tIns="0" rIns="0" bIns="0" rtlCol="0" anchor="t"/>
          <a:lstStyle/>
          <a:p>
            <a:pPr indent="0" marL="0">
              <a:buNone/>
            </a:pPr>
            <a:r>
              <a:rPr lang="en-US" sz="1700" b="1" dirty="0">
                <a:solidFill>
                  <a:schemeClr val="tx1"/>
                </a:solidFill>
              </a:rPr>
              <a:t>A checkpoint after every stage</a:t>
            </a:r>
            <a:endParaRPr lang="en-US" sz="1700" dirty="0"/>
          </a:p>
        </p:txBody>
      </p:sp>
      <p:sp>
        <p:nvSpPr>
          <p:cNvPr id="7" name="cardbody-83"/>
          <p:cNvSpPr txBox="1"/>
          <p:nvPr/>
        </p:nvSpPr>
        <p:spPr>
          <a:xfrm>
            <a:off x="1435608" y="2432304"/>
            <a:ext cx="4206240" cy="987552"/>
          </a:xfrm>
          <a:prstGeom prst="rect">
            <a:avLst/>
          </a:prstGeom>
          <a:noFill/>
          <a:ln/>
        </p:spPr>
        <p:txBody>
          <a:bodyPr wrap="square" lIns="0" tIns="0" rIns="0" bIns="0" rtlCol="0" anchor="t"/>
          <a:lstStyle/>
          <a:p>
            <a:pPr indent="0" marL="0">
              <a:buNone/>
            </a:pPr>
            <a:r>
              <a:rPr lang="en-US" sz="1350" dirty="0">
                <a:solidFill>
                  <a:schemeClr val="tx1"/>
                </a:solidFill>
              </a:rPr>
              <a:t>The repository carries the finished state of each stage as its own branch. Anyone who falls behind checks out the next one and rejoins the room immediately, with working code they can read.</a:t>
            </a:r>
            <a:endParaRPr lang="en-US" sz="1350" dirty="0"/>
          </a:p>
        </p:txBody>
      </p:sp>
      <p:sp>
        <p:nvSpPr>
          <p:cNvPr id="8" name="card-84"/>
          <p:cNvSpPr/>
          <p:nvPr/>
        </p:nvSpPr>
        <p:spPr>
          <a:xfrm>
            <a:off x="6217920" y="164592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9" name="dot-85"/>
          <p:cNvSpPr/>
          <p:nvPr/>
        </p:nvSpPr>
        <p:spPr>
          <a:xfrm>
            <a:off x="6492240" y="1901952"/>
            <a:ext cx="420624" cy="420624"/>
          </a:xfrm>
          <a:prstGeom prst="ellipse">
            <a:avLst/>
          </a:prstGeom>
          <a:solidFill>
            <a:schemeClr val="accent6"/>
          </a:solidFill>
          <a:ln w="12700">
            <a:solidFill>
              <a:schemeClr val="accent6"/>
            </a:solidFill>
            <a:prstDash val="solid"/>
          </a:ln>
        </p:spPr>
      </p:sp>
      <p:sp>
        <p:nvSpPr>
          <p:cNvPr id="10" name="dotnum-86"/>
          <p:cNvSpPr txBox="1"/>
          <p:nvPr/>
        </p:nvSpPr>
        <p:spPr>
          <a:xfrm>
            <a:off x="6492240" y="19019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cardhead-87"/>
          <p:cNvSpPr txBox="1"/>
          <p:nvPr/>
        </p:nvSpPr>
        <p:spPr>
          <a:xfrm>
            <a:off x="7059168" y="1865376"/>
            <a:ext cx="4206240" cy="512064"/>
          </a:xfrm>
          <a:prstGeom prst="rect">
            <a:avLst/>
          </a:prstGeom>
          <a:noFill/>
          <a:ln/>
        </p:spPr>
        <p:txBody>
          <a:bodyPr wrap="square" lIns="0" tIns="0" rIns="0" bIns="0" rtlCol="0" anchor="t"/>
          <a:lstStyle/>
          <a:p>
            <a:pPr indent="0" marL="0">
              <a:buNone/>
            </a:pPr>
            <a:r>
              <a:rPr lang="en-US" sz="1700" b="1" dirty="0">
                <a:solidFill>
                  <a:schemeClr val="tx1"/>
                </a:solidFill>
              </a:rPr>
              <a:t>Tests, not my judgement</a:t>
            </a:r>
            <a:endParaRPr lang="en-US" sz="1700" dirty="0"/>
          </a:p>
        </p:txBody>
      </p:sp>
      <p:sp>
        <p:nvSpPr>
          <p:cNvPr id="12" name="cardbody-88"/>
          <p:cNvSpPr txBox="1"/>
          <p:nvPr/>
        </p:nvSpPr>
        <p:spPr>
          <a:xfrm>
            <a:off x="7059168" y="2432304"/>
            <a:ext cx="4206240" cy="987552"/>
          </a:xfrm>
          <a:prstGeom prst="rect">
            <a:avLst/>
          </a:prstGeom>
          <a:noFill/>
          <a:ln/>
        </p:spPr>
        <p:txBody>
          <a:bodyPr wrap="square" lIns="0" tIns="0" rIns="0" bIns="0" rtlCol="0" anchor="t"/>
          <a:lstStyle/>
          <a:p>
            <a:pPr indent="0" marL="0">
              <a:buNone/>
            </a:pPr>
            <a:r>
              <a:rPr lang="en-US" sz="1350" dirty="0">
                <a:solidFill>
                  <a:schemeClr val="tx1"/>
                </a:solidFill>
              </a:rPr>
              <a:t>Each stage ends on a provided test. Green means move on. That replaces me walking round asking thirty people whether they are done.</a:t>
            </a:r>
            <a:endParaRPr lang="en-US" sz="1350" dirty="0"/>
          </a:p>
        </p:txBody>
      </p:sp>
      <p:sp>
        <p:nvSpPr>
          <p:cNvPr id="13" name="card-89"/>
          <p:cNvSpPr/>
          <p:nvPr/>
        </p:nvSpPr>
        <p:spPr>
          <a:xfrm>
            <a:off x="594360" y="388620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4" name="dot-90"/>
          <p:cNvSpPr/>
          <p:nvPr/>
        </p:nvSpPr>
        <p:spPr>
          <a:xfrm>
            <a:off x="868680" y="4142232"/>
            <a:ext cx="420624" cy="420624"/>
          </a:xfrm>
          <a:prstGeom prst="ellipse">
            <a:avLst/>
          </a:prstGeom>
          <a:solidFill>
            <a:schemeClr val="accent6"/>
          </a:solidFill>
          <a:ln w="12700">
            <a:solidFill>
              <a:schemeClr val="accent6"/>
            </a:solidFill>
            <a:prstDash val="solid"/>
          </a:ln>
        </p:spPr>
      </p:sp>
      <p:sp>
        <p:nvSpPr>
          <p:cNvPr id="15" name="dotnum-91"/>
          <p:cNvSpPr txBox="1"/>
          <p:nvPr/>
        </p:nvSpPr>
        <p:spPr>
          <a:xfrm>
            <a:off x="868680" y="41422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cardhead-92"/>
          <p:cNvSpPr txBox="1"/>
          <p:nvPr/>
        </p:nvSpPr>
        <p:spPr>
          <a:xfrm>
            <a:off x="1435608" y="4105656"/>
            <a:ext cx="4206240" cy="512064"/>
          </a:xfrm>
          <a:prstGeom prst="rect">
            <a:avLst/>
          </a:prstGeom>
          <a:noFill/>
          <a:ln/>
        </p:spPr>
        <p:txBody>
          <a:bodyPr wrap="square" lIns="0" tIns="0" rIns="0" bIns="0" rtlCol="0" anchor="t"/>
          <a:lstStyle/>
          <a:p>
            <a:pPr indent="0" marL="0">
              <a:buNone/>
            </a:pPr>
            <a:r>
              <a:rPr lang="en-US" sz="1700" b="1" dirty="0">
                <a:solidFill>
                  <a:schemeClr val="tx1"/>
                </a:solidFill>
              </a:rPr>
              <a:t>Pairs, by choice</a:t>
            </a:r>
            <a:endParaRPr lang="en-US" sz="1700" dirty="0"/>
          </a:p>
        </p:txBody>
      </p:sp>
      <p:sp>
        <p:nvSpPr>
          <p:cNvPr id="17" name="cardbody-93"/>
          <p:cNvSpPr txBox="1"/>
          <p:nvPr/>
        </p:nvSpPr>
        <p:spPr>
          <a:xfrm>
            <a:off x="1435608" y="4672584"/>
            <a:ext cx="4206240" cy="987552"/>
          </a:xfrm>
          <a:prstGeom prst="rect">
            <a:avLst/>
          </a:prstGeom>
          <a:noFill/>
          <a:ln/>
        </p:spPr>
        <p:txBody>
          <a:bodyPr wrap="square" lIns="0" tIns="0" rIns="0" bIns="0" rtlCol="0" anchor="t"/>
          <a:lstStyle/>
          <a:p>
            <a:pPr indent="0" marL="0">
              <a:buNone/>
            </a:pPr>
            <a:r>
              <a:rPr lang="en-US" sz="1350" dirty="0">
                <a:solidFill>
                  <a:schemeClr val="tx1"/>
                </a:solidFill>
              </a:rPr>
              <a:t>I ask people to sit in twos at the start. It halves the number of broken environments and it means the faster half of the room is occupied teaching rather than waiting.</a:t>
            </a:r>
            <a:endParaRPr lang="en-US" sz="1350" dirty="0"/>
          </a:p>
        </p:txBody>
      </p:sp>
      <p:sp>
        <p:nvSpPr>
          <p:cNvPr id="18" name="card-94"/>
          <p:cNvSpPr/>
          <p:nvPr/>
        </p:nvSpPr>
        <p:spPr>
          <a:xfrm>
            <a:off x="6217920" y="3886200"/>
            <a:ext cx="53492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9" name="dot-95"/>
          <p:cNvSpPr/>
          <p:nvPr/>
        </p:nvSpPr>
        <p:spPr>
          <a:xfrm>
            <a:off x="6492240" y="4142232"/>
            <a:ext cx="420624" cy="420624"/>
          </a:xfrm>
          <a:prstGeom prst="ellipse">
            <a:avLst/>
          </a:prstGeom>
          <a:solidFill>
            <a:schemeClr val="accent6"/>
          </a:solidFill>
          <a:ln w="12700">
            <a:solidFill>
              <a:schemeClr val="accent6"/>
            </a:solidFill>
            <a:prstDash val="solid"/>
          </a:ln>
        </p:spPr>
      </p:sp>
      <p:sp>
        <p:nvSpPr>
          <p:cNvPr id="20" name="dotnum-96"/>
          <p:cNvSpPr txBox="1"/>
          <p:nvPr/>
        </p:nvSpPr>
        <p:spPr>
          <a:xfrm>
            <a:off x="6492240" y="41422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cardhead-97"/>
          <p:cNvSpPr txBox="1"/>
          <p:nvPr/>
        </p:nvSpPr>
        <p:spPr>
          <a:xfrm>
            <a:off x="7059168" y="4105656"/>
            <a:ext cx="4206240" cy="512064"/>
          </a:xfrm>
          <a:prstGeom prst="rect">
            <a:avLst/>
          </a:prstGeom>
          <a:noFill/>
          <a:ln/>
        </p:spPr>
        <p:txBody>
          <a:bodyPr wrap="square" lIns="0" tIns="0" rIns="0" bIns="0" rtlCol="0" anchor="t"/>
          <a:lstStyle/>
          <a:p>
            <a:pPr indent="0" marL="0">
              <a:buNone/>
            </a:pPr>
            <a:r>
              <a:rPr lang="en-US" sz="1700" b="1" dirty="0">
                <a:solidFill>
                  <a:schemeClr val="tx1"/>
                </a:solidFill>
              </a:rPr>
              <a:t>One helper past twenty</a:t>
            </a:r>
            <a:endParaRPr lang="en-US" sz="1700" dirty="0"/>
          </a:p>
        </p:txBody>
      </p:sp>
      <p:sp>
        <p:nvSpPr>
          <p:cNvPr id="22" name="cardbody-98"/>
          <p:cNvSpPr txBox="1"/>
          <p:nvPr/>
        </p:nvSpPr>
        <p:spPr>
          <a:xfrm>
            <a:off x="7059168" y="4672584"/>
            <a:ext cx="4206240" cy="987552"/>
          </a:xfrm>
          <a:prstGeom prst="rect">
            <a:avLst/>
          </a:prstGeom>
          <a:noFill/>
          <a:ln/>
        </p:spPr>
        <p:txBody>
          <a:bodyPr wrap="square" lIns="0" tIns="0" rIns="0" bIns="0" rtlCol="0" anchor="t"/>
          <a:lstStyle/>
          <a:p>
            <a:pPr indent="0" marL="0">
              <a:buNone/>
            </a:pPr>
            <a:r>
              <a:rPr lang="en-US" sz="1350" dirty="0">
                <a:solidFill>
                  <a:schemeClr val="tx1"/>
                </a:solidFill>
              </a:rPr>
              <a:t>Below twenty I can run the floor alone. Above that I would ask for one volunteer who has done the setup in advance, purely for environment triage in the first fifteen minutes.</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What goes wrong, and what I do</a:t>
            </a:r>
            <a:endParaRPr lang="en-US" sz="3200" dirty="0"/>
          </a:p>
        </p:txBody>
      </p:sp>
      <p:sp>
        <p:nvSpPr>
          <p:cNvPr id="3" name="card-99"/>
          <p:cNvSpPr/>
          <p:nvPr/>
        </p:nvSpPr>
        <p:spPr>
          <a:xfrm>
            <a:off x="594360" y="1627632"/>
            <a:ext cx="1097280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rhead-100"/>
          <p:cNvSpPr txBox="1"/>
          <p:nvPr/>
        </p:nvSpPr>
        <p:spPr>
          <a:xfrm>
            <a:off x="941832" y="1773936"/>
            <a:ext cx="3931920" cy="640080"/>
          </a:xfrm>
          <a:prstGeom prst="rect">
            <a:avLst/>
          </a:prstGeom>
          <a:noFill/>
          <a:ln/>
        </p:spPr>
        <p:txBody>
          <a:bodyPr wrap="square" lIns="0" tIns="0" rIns="0" bIns="0" rtlCol="0" anchor="ctr"/>
          <a:lstStyle/>
          <a:p>
            <a:pPr indent="0" marL="0">
              <a:buNone/>
            </a:pPr>
            <a:r>
              <a:rPr lang="en-US" sz="1550" b="1" dirty="0">
                <a:solidFill>
                  <a:schemeClr val="accent5"/>
                </a:solidFill>
              </a:rPr>
              <a:t>Venue wifi is slow or absent</a:t>
            </a:r>
            <a:endParaRPr lang="en-US" sz="1550" dirty="0"/>
          </a:p>
        </p:txBody>
      </p:sp>
      <p:sp>
        <p:nvSpPr>
          <p:cNvPr id="5" name="rbody-101"/>
          <p:cNvSpPr txBox="1"/>
          <p:nvPr/>
        </p:nvSpPr>
        <p:spPr>
          <a:xfrm>
            <a:off x="5029200" y="1773936"/>
            <a:ext cx="6172200" cy="640080"/>
          </a:xfrm>
          <a:prstGeom prst="rect">
            <a:avLst/>
          </a:prstGeom>
          <a:noFill/>
          <a:ln/>
        </p:spPr>
        <p:txBody>
          <a:bodyPr wrap="square" lIns="0" tIns="0" rIns="0" bIns="0" rtlCol="0" anchor="ctr"/>
          <a:lstStyle/>
          <a:p>
            <a:pPr indent="0" marL="0">
              <a:buNone/>
            </a:pPr>
            <a:r>
              <a:rPr lang="en-US" sz="1350" dirty="0">
                <a:solidFill>
                  <a:schemeClr val="tx1"/>
                </a:solidFill>
              </a:rPr>
              <a:t>The setup script runs before arrival and caches everything. I bring the environment and the checkpoint on USB sticks as well.</a:t>
            </a:r>
            <a:endParaRPr lang="en-US" sz="1350" dirty="0"/>
          </a:p>
        </p:txBody>
      </p:sp>
      <p:sp>
        <p:nvSpPr>
          <p:cNvPr id="6" name="card-102"/>
          <p:cNvSpPr/>
          <p:nvPr/>
        </p:nvSpPr>
        <p:spPr>
          <a:xfrm>
            <a:off x="594360" y="2743200"/>
            <a:ext cx="1097280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rhead-103"/>
          <p:cNvSpPr txBox="1"/>
          <p:nvPr/>
        </p:nvSpPr>
        <p:spPr>
          <a:xfrm>
            <a:off x="941832" y="2889504"/>
            <a:ext cx="3931920" cy="640080"/>
          </a:xfrm>
          <a:prstGeom prst="rect">
            <a:avLst/>
          </a:prstGeom>
          <a:noFill/>
          <a:ln/>
        </p:spPr>
        <p:txBody>
          <a:bodyPr wrap="square" lIns="0" tIns="0" rIns="0" bIns="0" rtlCol="0" anchor="ctr"/>
          <a:lstStyle/>
          <a:p>
            <a:pPr indent="0" marL="0">
              <a:buNone/>
            </a:pPr>
            <a:r>
              <a:rPr lang="en-US" sz="1550" b="1" dirty="0">
                <a:solidFill>
                  <a:schemeClr val="accent5"/>
                </a:solidFill>
              </a:rPr>
              <a:t>Someone's Python is unfixable</a:t>
            </a:r>
            <a:endParaRPr lang="en-US" sz="1550" dirty="0"/>
          </a:p>
        </p:txBody>
      </p:sp>
      <p:sp>
        <p:nvSpPr>
          <p:cNvPr id="8" name="rbody-104"/>
          <p:cNvSpPr txBox="1"/>
          <p:nvPr/>
        </p:nvSpPr>
        <p:spPr>
          <a:xfrm>
            <a:off x="5029200" y="2889504"/>
            <a:ext cx="6172200" cy="640080"/>
          </a:xfrm>
          <a:prstGeom prst="rect">
            <a:avLst/>
          </a:prstGeom>
          <a:noFill/>
          <a:ln/>
        </p:spPr>
        <p:txBody>
          <a:bodyPr wrap="square" lIns="0" tIns="0" rIns="0" bIns="0" rtlCol="0" anchor="ctr"/>
          <a:lstStyle/>
          <a:p>
            <a:pPr indent="0" marL="0">
              <a:buNone/>
            </a:pPr>
            <a:r>
              <a:rPr lang="en-US" sz="1350" dirty="0">
                <a:solidFill>
                  <a:schemeClr val="tx1"/>
                </a:solidFill>
              </a:rPr>
              <a:t>Colab notebook, identical cells. Decided in a minute, instead of debugged for half an hour.</a:t>
            </a:r>
            <a:endParaRPr lang="en-US" sz="1350" dirty="0"/>
          </a:p>
        </p:txBody>
      </p:sp>
      <p:sp>
        <p:nvSpPr>
          <p:cNvPr id="9" name="card-105"/>
          <p:cNvSpPr/>
          <p:nvPr/>
        </p:nvSpPr>
        <p:spPr>
          <a:xfrm>
            <a:off x="594360" y="3858768"/>
            <a:ext cx="1097280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rhead-106"/>
          <p:cNvSpPr txBox="1"/>
          <p:nvPr/>
        </p:nvSpPr>
        <p:spPr>
          <a:xfrm>
            <a:off x="941832" y="4005072"/>
            <a:ext cx="3931920" cy="640080"/>
          </a:xfrm>
          <a:prstGeom prst="rect">
            <a:avLst/>
          </a:prstGeom>
          <a:noFill/>
          <a:ln/>
        </p:spPr>
        <p:txBody>
          <a:bodyPr wrap="square" lIns="0" tIns="0" rIns="0" bIns="0" rtlCol="0" anchor="ctr"/>
          <a:lstStyle/>
          <a:p>
            <a:pPr indent="0" marL="0">
              <a:buNone/>
            </a:pPr>
            <a:r>
              <a:rPr lang="en-US" sz="1550" b="1" dirty="0">
                <a:solidFill>
                  <a:schemeClr val="accent5"/>
                </a:solidFill>
              </a:rPr>
              <a:t>The room runs at two different speeds</a:t>
            </a:r>
            <a:endParaRPr lang="en-US" sz="1550" dirty="0"/>
          </a:p>
        </p:txBody>
      </p:sp>
      <p:sp>
        <p:nvSpPr>
          <p:cNvPr id="11" name="rbody-107"/>
          <p:cNvSpPr txBox="1"/>
          <p:nvPr/>
        </p:nvSpPr>
        <p:spPr>
          <a:xfrm>
            <a:off x="5029200" y="4005072"/>
            <a:ext cx="6172200" cy="640080"/>
          </a:xfrm>
          <a:prstGeom prst="rect">
            <a:avLst/>
          </a:prstGeom>
          <a:noFill/>
          <a:ln/>
        </p:spPr>
        <p:txBody>
          <a:bodyPr wrap="square" lIns="0" tIns="0" rIns="0" bIns="0" rtlCol="0" anchor="ctr"/>
          <a:lstStyle/>
          <a:p>
            <a:pPr indent="0" marL="0">
              <a:buNone/>
            </a:pPr>
            <a:r>
              <a:rPr lang="en-US" sz="1350" dirty="0">
                <a:solidFill>
                  <a:schemeClr val="tx1"/>
                </a:solidFill>
              </a:rPr>
              <a:t>Stage branches. The fast half goes on to an optional fourth break; nobody waits and nobody is stranded.</a:t>
            </a:r>
            <a:endParaRPr lang="en-US" sz="1350" dirty="0"/>
          </a:p>
        </p:txBody>
      </p:sp>
      <p:sp>
        <p:nvSpPr>
          <p:cNvPr id="12" name="card-108"/>
          <p:cNvSpPr/>
          <p:nvPr/>
        </p:nvSpPr>
        <p:spPr>
          <a:xfrm>
            <a:off x="594360" y="4974336"/>
            <a:ext cx="1097280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3" name="rhead-109"/>
          <p:cNvSpPr txBox="1"/>
          <p:nvPr/>
        </p:nvSpPr>
        <p:spPr>
          <a:xfrm>
            <a:off x="941832" y="5120640"/>
            <a:ext cx="3931920" cy="640080"/>
          </a:xfrm>
          <a:prstGeom prst="rect">
            <a:avLst/>
          </a:prstGeom>
          <a:noFill/>
          <a:ln/>
        </p:spPr>
        <p:txBody>
          <a:bodyPr wrap="square" lIns="0" tIns="0" rIns="0" bIns="0" rtlCol="0" anchor="ctr"/>
          <a:lstStyle/>
          <a:p>
            <a:pPr indent="0" marL="0">
              <a:buNone/>
            </a:pPr>
            <a:r>
              <a:rPr lang="en-US" sz="1550" b="1" dirty="0">
                <a:solidFill>
                  <a:schemeClr val="accent5"/>
                </a:solidFill>
              </a:rPr>
              <a:t>I lose time early and the clock slips</a:t>
            </a:r>
            <a:endParaRPr lang="en-US" sz="1550" dirty="0"/>
          </a:p>
        </p:txBody>
      </p:sp>
      <p:sp>
        <p:nvSpPr>
          <p:cNvPr id="14" name="rbody-110"/>
          <p:cNvSpPr txBox="1"/>
          <p:nvPr/>
        </p:nvSpPr>
        <p:spPr>
          <a:xfrm>
            <a:off x="5029200" y="5120640"/>
            <a:ext cx="6172200" cy="640080"/>
          </a:xfrm>
          <a:prstGeom prst="rect">
            <a:avLst/>
          </a:prstGeom>
          <a:noFill/>
          <a:ln/>
        </p:spPr>
        <p:txBody>
          <a:bodyPr wrap="square" lIns="0" tIns="0" rIns="0" bIns="0" rtlCol="0" anchor="ctr"/>
          <a:lstStyle/>
          <a:p>
            <a:pPr indent="0" marL="0">
              <a:buNone/>
            </a:pPr>
            <a:r>
              <a:rPr lang="en-US" sz="1350" dirty="0">
                <a:solidFill>
                  <a:schemeClr val="tx1"/>
                </a:solidFill>
              </a:rPr>
              <a:t>The evaluation hour is the designed overflow. I demo it instead of building it and the session still lands.</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tx1"/>
                </a:solidFill>
              </a:rPr>
              <a:t>What people leave with</a:t>
            </a:r>
            <a:endParaRPr lang="en-US" sz="3200" dirty="0"/>
          </a:p>
        </p:txBody>
      </p:sp>
      <p:sp>
        <p:nvSpPr>
          <p:cNvPr id="3" name="card-111"/>
          <p:cNvSpPr/>
          <p:nvPr/>
        </p:nvSpPr>
        <p:spPr>
          <a:xfrm>
            <a:off x="594360" y="1691640"/>
            <a:ext cx="3502152"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tchead-112"/>
          <p:cNvSpPr txBox="1"/>
          <p:nvPr/>
        </p:nvSpPr>
        <p:spPr>
          <a:xfrm>
            <a:off x="905256" y="1911096"/>
            <a:ext cx="2880360" cy="512064"/>
          </a:xfrm>
          <a:prstGeom prst="rect">
            <a:avLst/>
          </a:prstGeom>
          <a:noFill/>
          <a:ln/>
        </p:spPr>
        <p:txBody>
          <a:bodyPr wrap="square" lIns="0" tIns="0" rIns="0" bIns="0" rtlCol="0" anchor="t"/>
          <a:lstStyle/>
          <a:p>
            <a:pPr indent="0" marL="0">
              <a:buNone/>
            </a:pPr>
            <a:r>
              <a:rPr lang="en-US" sz="1700" b="1" dirty="0">
                <a:solidFill>
                  <a:schemeClr val="accent2"/>
                </a:solidFill>
              </a:rPr>
              <a:t>A working quantiser</a:t>
            </a:r>
            <a:endParaRPr lang="en-US" sz="1700" dirty="0"/>
          </a:p>
        </p:txBody>
      </p:sp>
      <p:sp>
        <p:nvSpPr>
          <p:cNvPr id="5" name="tcbody-113"/>
          <p:cNvSpPr txBox="1"/>
          <p:nvPr/>
        </p:nvSpPr>
        <p:spPr>
          <a:xfrm>
            <a:off x="905256" y="2478024"/>
            <a:ext cx="2880360" cy="1033272"/>
          </a:xfrm>
          <a:prstGeom prst="rect">
            <a:avLst/>
          </a:prstGeom>
          <a:noFill/>
          <a:ln/>
        </p:spPr>
        <p:txBody>
          <a:bodyPr wrap="square" lIns="0" tIns="0" rIns="0" bIns="0" rtlCol="0" anchor="t"/>
          <a:lstStyle/>
          <a:p>
            <a:pPr indent="0" marL="0">
              <a:buNone/>
            </a:pPr>
            <a:r>
              <a:rPr lang="en-US" sz="1350" dirty="0">
                <a:solidFill>
                  <a:schemeClr val="tx1"/>
                </a:solidFill>
              </a:rPr>
              <a:t>Forty lines they wrote, that they understand, and that runs on any checkpoint they have access to on Monday morning.</a:t>
            </a:r>
            <a:endParaRPr lang="en-US" sz="1350" dirty="0"/>
          </a:p>
        </p:txBody>
      </p:sp>
      <p:sp>
        <p:nvSpPr>
          <p:cNvPr id="6" name="card-114"/>
          <p:cNvSpPr/>
          <p:nvPr/>
        </p:nvSpPr>
        <p:spPr>
          <a:xfrm>
            <a:off x="4325112" y="1691640"/>
            <a:ext cx="3502152"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tchead-115"/>
          <p:cNvSpPr txBox="1"/>
          <p:nvPr/>
        </p:nvSpPr>
        <p:spPr>
          <a:xfrm>
            <a:off x="4636008" y="1911096"/>
            <a:ext cx="2880360" cy="512064"/>
          </a:xfrm>
          <a:prstGeom prst="rect">
            <a:avLst/>
          </a:prstGeom>
          <a:noFill/>
          <a:ln/>
        </p:spPr>
        <p:txBody>
          <a:bodyPr wrap="square" lIns="0" tIns="0" rIns="0" bIns="0" rtlCol="0" anchor="t"/>
          <a:lstStyle/>
          <a:p>
            <a:pPr indent="0" marL="0">
              <a:buNone/>
            </a:pPr>
            <a:r>
              <a:rPr lang="en-US" sz="1700" b="1" dirty="0">
                <a:solidFill>
                  <a:schemeClr val="accent2"/>
                </a:solidFill>
              </a:rPr>
              <a:t>A diagnosis routine</a:t>
            </a:r>
            <a:endParaRPr lang="en-US" sz="1700" dirty="0"/>
          </a:p>
        </p:txBody>
      </p:sp>
      <p:sp>
        <p:nvSpPr>
          <p:cNvPr id="8" name="tcbody-116"/>
          <p:cNvSpPr txBox="1"/>
          <p:nvPr/>
        </p:nvSpPr>
        <p:spPr>
          <a:xfrm>
            <a:off x="4636008" y="2478024"/>
            <a:ext cx="2880360" cy="1033272"/>
          </a:xfrm>
          <a:prstGeom prst="rect">
            <a:avLst/>
          </a:prstGeom>
          <a:noFill/>
          <a:ln/>
        </p:spPr>
        <p:txBody>
          <a:bodyPr wrap="square" lIns="0" tIns="0" rIns="0" bIns="0" rtlCol="0" anchor="t"/>
          <a:lstStyle/>
          <a:p>
            <a:pPr indent="0" marL="0">
              <a:buNone/>
            </a:pPr>
            <a:r>
              <a:rPr lang="en-US" sz="1350" dirty="0">
                <a:solidFill>
                  <a:schemeClr val="tx1"/>
                </a:solidFill>
              </a:rPr>
              <a:t>Three checks against a checkpoint: dead weight fraction, per channel maximum against the representable bound, and a liveness counter.</a:t>
            </a:r>
            <a:endParaRPr lang="en-US" sz="1350" dirty="0"/>
          </a:p>
        </p:txBody>
      </p:sp>
      <p:sp>
        <p:nvSpPr>
          <p:cNvPr id="9" name="card-117"/>
          <p:cNvSpPr/>
          <p:nvPr/>
        </p:nvSpPr>
        <p:spPr>
          <a:xfrm>
            <a:off x="8065008" y="1691640"/>
            <a:ext cx="3502152"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tchead-118"/>
          <p:cNvSpPr txBox="1"/>
          <p:nvPr/>
        </p:nvSpPr>
        <p:spPr>
          <a:xfrm>
            <a:off x="8375904" y="1911096"/>
            <a:ext cx="2880360" cy="512064"/>
          </a:xfrm>
          <a:prstGeom prst="rect">
            <a:avLst/>
          </a:prstGeom>
          <a:noFill/>
          <a:ln/>
        </p:spPr>
        <p:txBody>
          <a:bodyPr wrap="square" lIns="0" tIns="0" rIns="0" bIns="0" rtlCol="0" anchor="t"/>
          <a:lstStyle/>
          <a:p>
            <a:pPr indent="0" marL="0">
              <a:buNone/>
            </a:pPr>
            <a:r>
              <a:rPr lang="en-US" sz="1700" b="1" dirty="0">
                <a:solidFill>
                  <a:schemeClr val="accent2"/>
                </a:solidFill>
              </a:rPr>
              <a:t>An evaluation pattern</a:t>
            </a:r>
            <a:endParaRPr lang="en-US" sz="1700" dirty="0"/>
          </a:p>
        </p:txBody>
      </p:sp>
      <p:sp>
        <p:nvSpPr>
          <p:cNvPr id="11" name="tcbody-119"/>
          <p:cNvSpPr txBox="1"/>
          <p:nvPr/>
        </p:nvSpPr>
        <p:spPr>
          <a:xfrm>
            <a:off x="8375904" y="2478024"/>
            <a:ext cx="2880360" cy="1033272"/>
          </a:xfrm>
          <a:prstGeom prst="rect">
            <a:avLst/>
          </a:prstGeom>
          <a:noFill/>
          <a:ln/>
        </p:spPr>
        <p:txBody>
          <a:bodyPr wrap="square" lIns="0" tIns="0" rIns="0" bIns="0" rtlCol="0" anchor="t"/>
          <a:lstStyle/>
          <a:p>
            <a:pPr indent="0" marL="0">
              <a:buNone/>
            </a:pPr>
            <a:r>
              <a:rPr lang="en-US" sz="1350" dirty="0">
                <a:solidFill>
                  <a:schemeClr val="tx1"/>
                </a:solidFill>
              </a:rPr>
              <a:t>A capability metric with a liveness metric beside it, which generalises well past quantisation to anything that can fail by going quiet.</a:t>
            </a:r>
            <a:endParaRPr lang="en-US" sz="1350" dirty="0"/>
          </a:p>
        </p:txBody>
      </p:sp>
      <p:sp>
        <p:nvSpPr>
          <p:cNvPr id="12" name="card-120"/>
          <p:cNvSpPr/>
          <p:nvPr/>
        </p:nvSpPr>
        <p:spPr>
          <a:xfrm>
            <a:off x="594360" y="4069080"/>
            <a:ext cx="10972800" cy="1371600"/>
          </a:xfrm>
          <a:prstGeom prst="roundRect">
            <a:avLst>
              <a:gd name="adj" fmla="val 5333"/>
            </a:avLst>
          </a:prstGeom>
          <a:solidFill>
            <a:schemeClr val="tx2"/>
          </a:solidFill>
          <a:ln w="12700">
            <a:solidFill>
              <a:schemeClr val="tx2"/>
            </a:solidFill>
            <a:prstDash val="solid"/>
          </a:ln>
        </p:spPr>
      </p:sp>
      <p:sp>
        <p:nvSpPr>
          <p:cNvPr id="13" name="q2-121"/>
          <p:cNvSpPr txBox="1"/>
          <p:nvPr/>
        </p:nvSpPr>
        <p:spPr>
          <a:xfrm>
            <a:off x="1005840" y="4270248"/>
            <a:ext cx="10149840" cy="457200"/>
          </a:xfrm>
          <a:prstGeom prst="rect">
            <a:avLst/>
          </a:prstGeom>
          <a:noFill/>
          <a:ln/>
        </p:spPr>
        <p:txBody>
          <a:bodyPr wrap="square" lIns="0" tIns="0" rIns="0" bIns="0" rtlCol="0" anchor="ctr"/>
          <a:lstStyle/>
          <a:p>
            <a:pPr indent="0" marL="0">
              <a:buNone/>
            </a:pPr>
            <a:r>
              <a:rPr lang="en-US" sz="2100" b="1" dirty="0">
                <a:solidFill>
                  <a:schemeClr val="bg1"/>
                </a:solidFill>
              </a:rPr>
              <a:t>The test is whether they can answer one question about their own model.</a:t>
            </a:r>
            <a:endParaRPr lang="en-US" sz="2100" dirty="0"/>
          </a:p>
        </p:txBody>
      </p:sp>
      <p:sp>
        <p:nvSpPr>
          <p:cNvPr id="14" name="q2s-122"/>
          <p:cNvSpPr txBox="1"/>
          <p:nvPr/>
        </p:nvSpPr>
        <p:spPr>
          <a:xfrm>
            <a:off x="1005840" y="4727448"/>
            <a:ext cx="10149840" cy="548640"/>
          </a:xfrm>
          <a:prstGeom prst="rect">
            <a:avLst/>
          </a:prstGeom>
          <a:noFill/>
          <a:ln/>
        </p:spPr>
        <p:txBody>
          <a:bodyPr wrap="square" lIns="0" tIns="0" rIns="0" bIns="0" rtlCol="0" anchor="ctr"/>
          <a:lstStyle/>
          <a:p>
            <a:pPr indent="0" marL="0">
              <a:buNone/>
            </a:pPr>
            <a:r>
              <a:rPr lang="en-US" sz="1400" dirty="0">
                <a:solidFill>
                  <a:srgbClr val="8A93A6"/>
                </a:solidFill>
              </a:rPr>
              <a:t>Will this checkpoint survive being quantised, and how would I know if it had not? If they can answer that without running the quantiser, the three hours worked.</a:t>
            </a:r>
            <a:endParaRPr lang="en-US" sz="14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0972800" cy="914400"/>
          </a:xfrm>
          <a:prstGeom prst="rect">
            <a:avLst/>
          </a:prstGeom>
          <a:noFill/>
          <a:ln/>
        </p:spPr>
        <p:txBody>
          <a:bodyPr wrap="square" rtlCol="0" anchor="ctr"/>
          <a:lstStyle/>
          <a:p>
            <a:pPr algn="l" indent="0" marL="0">
              <a:buNone/>
            </a:pPr>
            <a:r>
              <a:rPr lang="en-US" sz="3200" b="1" dirty="0">
                <a:solidFill>
                  <a:schemeClr val="bg1"/>
                </a:solidFill>
              </a:rPr>
              <a:t>What I would ask for</a:t>
            </a:r>
            <a:endParaRPr lang="en-US" sz="3200" dirty="0"/>
          </a:p>
        </p:txBody>
      </p:sp>
      <p:sp>
        <p:nvSpPr>
          <p:cNvPr id="3" name="adot-123"/>
          <p:cNvSpPr/>
          <p:nvPr/>
        </p:nvSpPr>
        <p:spPr>
          <a:xfrm>
            <a:off x="594360" y="1901952"/>
            <a:ext cx="457200" cy="457200"/>
          </a:xfrm>
          <a:prstGeom prst="ellipse">
            <a:avLst/>
          </a:prstGeom>
          <a:solidFill>
            <a:srgbClr val="E8633A"/>
          </a:solidFill>
          <a:ln w="12700">
            <a:solidFill>
              <a:srgbClr val="E8633A"/>
            </a:solidFill>
            <a:prstDash val="solid"/>
          </a:ln>
        </p:spPr>
      </p:sp>
      <p:sp>
        <p:nvSpPr>
          <p:cNvPr id="4" name="anum-124"/>
          <p:cNvSpPr txBox="1"/>
          <p:nvPr/>
        </p:nvSpPr>
        <p:spPr>
          <a:xfrm>
            <a:off x="594360" y="19019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ahead-125"/>
          <p:cNvSpPr txBox="1"/>
          <p:nvPr/>
        </p:nvSpPr>
        <p:spPr>
          <a:xfrm>
            <a:off x="1325880" y="1828800"/>
            <a:ext cx="10241280" cy="457200"/>
          </a:xfrm>
          <a:prstGeom prst="rect">
            <a:avLst/>
          </a:prstGeom>
          <a:noFill/>
          <a:ln/>
        </p:spPr>
        <p:txBody>
          <a:bodyPr wrap="square" lIns="0" tIns="0" rIns="0" bIns="0" rtlCol="0" anchor="ctr"/>
          <a:lstStyle/>
          <a:p>
            <a:pPr indent="0" marL="0">
              <a:buNone/>
            </a:pPr>
            <a:r>
              <a:rPr lang="en-US" sz="2000" b="1" dirty="0">
                <a:solidFill>
                  <a:schemeClr val="bg1"/>
                </a:solidFill>
              </a:rPr>
              <a:t>Three hours, and a cap of thirty</a:t>
            </a:r>
            <a:endParaRPr lang="en-US" sz="2000" dirty="0"/>
          </a:p>
        </p:txBody>
      </p:sp>
      <p:sp>
        <p:nvSpPr>
          <p:cNvPr id="6" name="atail-126"/>
          <p:cNvSpPr txBox="1"/>
          <p:nvPr/>
        </p:nvSpPr>
        <p:spPr>
          <a:xfrm>
            <a:off x="1325880" y="2304288"/>
            <a:ext cx="10241280" cy="566928"/>
          </a:xfrm>
          <a:prstGeom prst="rect">
            <a:avLst/>
          </a:prstGeom>
          <a:noFill/>
          <a:ln/>
        </p:spPr>
        <p:txBody>
          <a:bodyPr wrap="square" lIns="0" tIns="0" rIns="0" bIns="0" rtlCol="0" anchor="t"/>
          <a:lstStyle/>
          <a:p>
            <a:pPr indent="0" marL="0">
              <a:buNone/>
            </a:pPr>
            <a:r>
              <a:rPr lang="en-US" sz="1400" dirty="0">
                <a:solidFill>
                  <a:srgbClr val="8A93A6"/>
                </a:solidFill>
              </a:rPr>
              <a:t>Two hours works with the evaluation demoed rather than built. Past thirty I would want one volunteer for setup triage.</a:t>
            </a:r>
            <a:endParaRPr lang="en-US" sz="1400" dirty="0"/>
          </a:p>
        </p:txBody>
      </p:sp>
      <p:sp>
        <p:nvSpPr>
          <p:cNvPr id="7" name="adot-127"/>
          <p:cNvSpPr/>
          <p:nvPr/>
        </p:nvSpPr>
        <p:spPr>
          <a:xfrm>
            <a:off x="594360" y="3200400"/>
            <a:ext cx="457200" cy="457200"/>
          </a:xfrm>
          <a:prstGeom prst="ellipse">
            <a:avLst/>
          </a:prstGeom>
          <a:solidFill>
            <a:srgbClr val="E8633A"/>
          </a:solidFill>
          <a:ln w="12700">
            <a:solidFill>
              <a:srgbClr val="E8633A"/>
            </a:solidFill>
            <a:prstDash val="solid"/>
          </a:ln>
        </p:spPr>
      </p:sp>
      <p:sp>
        <p:nvSpPr>
          <p:cNvPr id="8" name="anum-128"/>
          <p:cNvSpPr txBox="1"/>
          <p:nvPr/>
        </p:nvSpPr>
        <p:spPr>
          <a:xfrm>
            <a:off x="59436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ahead-129"/>
          <p:cNvSpPr txBox="1"/>
          <p:nvPr/>
        </p:nvSpPr>
        <p:spPr>
          <a:xfrm>
            <a:off x="1325880" y="3127248"/>
            <a:ext cx="10241280" cy="457200"/>
          </a:xfrm>
          <a:prstGeom prst="rect">
            <a:avLst/>
          </a:prstGeom>
          <a:noFill/>
          <a:ln/>
        </p:spPr>
        <p:txBody>
          <a:bodyPr wrap="square" lIns="0" tIns="0" rIns="0" bIns="0" rtlCol="0" anchor="ctr"/>
          <a:lstStyle/>
          <a:p>
            <a:pPr indent="0" marL="0">
              <a:buNone/>
            </a:pPr>
            <a:r>
              <a:rPr lang="en-US" sz="2000" b="1" dirty="0">
                <a:solidFill>
                  <a:schemeClr val="bg1"/>
                </a:solidFill>
              </a:rPr>
              <a:t>The setup script in the joining email</a:t>
            </a:r>
            <a:endParaRPr lang="en-US" sz="2000" dirty="0"/>
          </a:p>
        </p:txBody>
      </p:sp>
      <p:sp>
        <p:nvSpPr>
          <p:cNvPr id="10" name="atail-130"/>
          <p:cNvSpPr txBox="1"/>
          <p:nvPr/>
        </p:nvSpPr>
        <p:spPr>
          <a:xfrm>
            <a:off x="1325880" y="3602736"/>
            <a:ext cx="10241280" cy="566928"/>
          </a:xfrm>
          <a:prstGeom prst="rect">
            <a:avLst/>
          </a:prstGeom>
          <a:noFill/>
          <a:ln/>
        </p:spPr>
        <p:txBody>
          <a:bodyPr wrap="square" lIns="0" tIns="0" rIns="0" bIns="0" rtlCol="0" anchor="t"/>
          <a:lstStyle/>
          <a:p>
            <a:pPr indent="0" marL="0">
              <a:buNone/>
            </a:pPr>
            <a:r>
              <a:rPr lang="en-US" sz="1400" dirty="0">
                <a:solidFill>
                  <a:srgbClr val="8A93A6"/>
                </a:solidFill>
              </a:rPr>
              <a:t>A week ahead. This single thing is the difference between starting at 0:00 and starting at 0:25.</a:t>
            </a:r>
            <a:endParaRPr lang="en-US" sz="1400" dirty="0"/>
          </a:p>
        </p:txBody>
      </p:sp>
      <p:sp>
        <p:nvSpPr>
          <p:cNvPr id="11" name="adot-131"/>
          <p:cNvSpPr/>
          <p:nvPr/>
        </p:nvSpPr>
        <p:spPr>
          <a:xfrm>
            <a:off x="594360" y="4498848"/>
            <a:ext cx="457200" cy="457200"/>
          </a:xfrm>
          <a:prstGeom prst="ellipse">
            <a:avLst/>
          </a:prstGeom>
          <a:solidFill>
            <a:srgbClr val="E8633A"/>
          </a:solidFill>
          <a:ln w="12700">
            <a:solidFill>
              <a:srgbClr val="E8633A"/>
            </a:solidFill>
            <a:prstDash val="solid"/>
          </a:ln>
        </p:spPr>
      </p:sp>
      <p:sp>
        <p:nvSpPr>
          <p:cNvPr id="12" name="anum-132"/>
          <p:cNvSpPr txBox="1"/>
          <p:nvPr/>
        </p:nvSpPr>
        <p:spPr>
          <a:xfrm>
            <a:off x="594360" y="4498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ahead-133"/>
          <p:cNvSpPr txBox="1"/>
          <p:nvPr/>
        </p:nvSpPr>
        <p:spPr>
          <a:xfrm>
            <a:off x="1325880" y="4425696"/>
            <a:ext cx="10241280" cy="457200"/>
          </a:xfrm>
          <a:prstGeom prst="rect">
            <a:avLst/>
          </a:prstGeom>
          <a:noFill/>
          <a:ln/>
        </p:spPr>
        <p:txBody>
          <a:bodyPr wrap="square" lIns="0" tIns="0" rIns="0" bIns="0" rtlCol="0" anchor="ctr"/>
          <a:lstStyle/>
          <a:p>
            <a:pPr indent="0" marL="0">
              <a:buNone/>
            </a:pPr>
            <a:r>
              <a:rPr lang="en-US" sz="2000" b="1" dirty="0">
                <a:solidFill>
                  <a:schemeClr val="bg1"/>
                </a:solidFill>
              </a:rPr>
              <a:t>The January to March quarter, not November</a:t>
            </a:r>
            <a:endParaRPr lang="en-US" sz="2000" dirty="0"/>
          </a:p>
        </p:txBody>
      </p:sp>
      <p:sp>
        <p:nvSpPr>
          <p:cNvPr id="14" name="atail-134"/>
          <p:cNvSpPr txBox="1"/>
          <p:nvPr/>
        </p:nvSpPr>
        <p:spPr>
          <a:xfrm>
            <a:off x="1325880" y="4901184"/>
            <a:ext cx="10241280" cy="566928"/>
          </a:xfrm>
          <a:prstGeom prst="rect">
            <a:avLst/>
          </a:prstGeom>
          <a:noFill/>
          <a:ln/>
        </p:spPr>
        <p:txBody>
          <a:bodyPr wrap="square" lIns="0" tIns="0" rIns="0" bIns="0" rtlCol="0" anchor="t"/>
          <a:lstStyle/>
          <a:p>
            <a:pPr indent="0" marL="0">
              <a:buNone/>
            </a:pPr>
            <a:r>
              <a:rPr lang="en-US" sz="1400" dirty="0">
                <a:solidFill>
                  <a:srgbClr val="8A93A6"/>
                </a:solidFill>
              </a:rPr>
              <a:t>November sits between four other commitments. Q1 also puts it after the silicon tapes out, so the hardware section is measured rather than projected.</a:t>
            </a:r>
            <a:endParaRPr lang="en-US" sz="1400" dirty="0"/>
          </a:p>
        </p:txBody>
      </p:sp>
      <p:sp>
        <p:nvSpPr>
          <p:cNvPr id="15" name="aclose-135"/>
          <p:cNvSpPr txBox="1"/>
          <p:nvPr/>
        </p:nvSpPr>
        <p:spPr>
          <a:xfrm>
            <a:off x="594360" y="5897880"/>
            <a:ext cx="10972800" cy="457200"/>
          </a:xfrm>
          <a:prstGeom prst="rect">
            <a:avLst/>
          </a:prstGeom>
          <a:noFill/>
          <a:ln/>
        </p:spPr>
        <p:txBody>
          <a:bodyPr wrap="square" lIns="0" tIns="0" rIns="0" bIns="0" rtlCol="0" anchor="ctr"/>
          <a:lstStyle/>
          <a:p>
            <a:pPr indent="0" marL="0">
              <a:buNone/>
            </a:pPr>
            <a:r>
              <a:rPr lang="en-US" sz="1300" i="1" dirty="0">
                <a:solidFill>
                  <a:srgbClr val="3FA796"/>
                </a:solidFill>
              </a:rPr>
              <a:t>Happy to run it in November if that is what the schedule needs. The answer above is about doing it well, not about whether I will do it.</a:t>
            </a:r>
            <a:endParaRPr lang="en-US" sz="1300" dirty="0"/>
          </a:p>
        </p:txBody>
      </p:sp>
    </p:spTree>
  </p:cSld>
  <p:clrMapOvr>
    <a:masterClrMapping/>
  </p:clrMapOvr>
</p:sld>
</file>

<file path=ppt/theme/theme1.xml><?xml version="1.0" encoding="utf-8"?>
<a:theme xmlns:a="http://schemas.openxmlformats.org/drawingml/2006/main" name="Break A Model">
  <a:themeElements>
    <a:clrScheme name="Break A Model">
      <a:dk1>
        <a:srgbClr val="1A1A1E"/>
      </a:dk1>
      <a:lt1>
        <a:srgbClr val="FFFFFF"/>
      </a:lt1>
      <a:dk2>
        <a:srgbClr val="232733"/>
      </a:dk2>
      <a:lt2>
        <a:srgbClr val="F4F5F7"/>
      </a:lt2>
      <a:accent1>
        <a:srgbClr val="E8633A"/>
      </a:accent1>
      <a:accent2>
        <a:srgbClr val="3FA796"/>
      </a:accent2>
      <a:accent3>
        <a:srgbClr val="F2B134"/>
      </a:accent3>
      <a:accent4>
        <a:srgbClr val="8A93A6"/>
      </a:accent4>
      <a:accent5>
        <a:srgbClr val="C0392B"/>
      </a:accent5>
      <a:accent6>
        <a:srgbClr val="5B7CFA"/>
      </a:accent6>
      <a:hlink>
        <a:srgbClr val="5B7CFA"/>
      </a:hlink>
      <a:folHlink>
        <a:srgbClr val="8A93A6"/>
      </a:folHlink>
    </a:clrScheme>
    <a:fontScheme name="Break A Mod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 a model, then fix it</dc:title>
  <dc:subject>PptxGenJS Presentation</dc:subject>
  <dc:creator>Alosh Denny</dc:creator>
  <cp:lastModifiedBy>Alosh Denny</cp:lastModifiedBy>
  <cp:revision>1</cp:revision>
  <dcterms:created xsi:type="dcterms:W3CDTF">2026-10-07T08:06:35Z</dcterms:created>
  <dcterms:modified xsi:type="dcterms:W3CDTF">2026-10-07T08:06:35Z</dcterms:modified>
</cp:coreProperties>
</file>